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63" r:id="rId5"/>
    <p:sldId id="264" r:id="rId6"/>
    <p:sldId id="265" r:id="rId7"/>
    <p:sldId id="266" r:id="rId8"/>
    <p:sldId id="261" r:id="rId9"/>
    <p:sldId id="259" r:id="rId10"/>
    <p:sldId id="267" r:id="rId11"/>
    <p:sldId id="262" r:id="rId12"/>
    <p:sldId id="268" r:id="rId13"/>
  </p:sldIdLst>
  <p:sldSz cx="18288000" cy="10287000"/>
  <p:notesSz cx="6858000" cy="9144000"/>
  <p:embeddedFontLst>
    <p:embeddedFont>
      <p:font typeface="Saira ExtraCondensed Bold" panose="020B0604020202020204" charset="0"/>
      <p:regular r:id="rId14"/>
    </p:embeddedFont>
    <p:embeddedFont>
      <p:font typeface="Saira ExtraCondensed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7D39"/>
    <a:srgbClr val="70170A"/>
    <a:srgbClr val="86B864"/>
    <a:srgbClr val="578200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8712" y="-671200"/>
            <a:ext cx="3243146" cy="11629399"/>
            <a:chOff x="0" y="0"/>
            <a:chExt cx="854162" cy="3062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162" cy="3062887"/>
            </a:xfrm>
            <a:custGeom>
              <a:avLst/>
              <a:gdLst/>
              <a:ahLst/>
              <a:cxnLst/>
              <a:rect l="l" t="t" r="r" b="b"/>
              <a:pathLst>
                <a:path w="854162" h="3062887">
                  <a:moveTo>
                    <a:pt x="0" y="0"/>
                  </a:moveTo>
                  <a:lnTo>
                    <a:pt x="854162" y="0"/>
                  </a:lnTo>
                  <a:lnTo>
                    <a:pt x="854162" y="3062887"/>
                  </a:lnTo>
                  <a:lnTo>
                    <a:pt x="0" y="3062887"/>
                  </a:lnTo>
                  <a:close/>
                </a:path>
              </a:pathLst>
            </a:custGeom>
            <a:solidFill>
              <a:srgbClr val="547D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54162" cy="3110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>
                <a:solidFill>
                  <a:srgbClr val="547D39"/>
                </a:solidFill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447339" y="505496"/>
            <a:ext cx="8353264" cy="9276008"/>
          </a:xfrm>
          <a:custGeom>
            <a:avLst/>
            <a:gdLst/>
            <a:ahLst/>
            <a:cxnLst/>
            <a:rect l="l" t="t" r="r" b="b"/>
            <a:pathLst>
              <a:path w="8353264" h="9276008">
                <a:moveTo>
                  <a:pt x="0" y="0"/>
                </a:moveTo>
                <a:lnTo>
                  <a:pt x="8353264" y="0"/>
                </a:lnTo>
                <a:lnTo>
                  <a:pt x="8353264" y="9276008"/>
                </a:lnTo>
                <a:lnTo>
                  <a:pt x="0" y="9276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-62212" y="658240"/>
            <a:ext cx="6012550" cy="8970520"/>
            <a:chOff x="0" y="0"/>
            <a:chExt cx="660400" cy="9852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985294"/>
            </a:xfrm>
            <a:custGeom>
              <a:avLst/>
              <a:gdLst/>
              <a:ahLst/>
              <a:cxnLst/>
              <a:rect l="l" t="t" r="r" b="b"/>
              <a:pathLst>
                <a:path w="660400" h="985294">
                  <a:moveTo>
                    <a:pt x="220252" y="966225"/>
                  </a:moveTo>
                  <a:cubicBezTo>
                    <a:pt x="254109" y="977739"/>
                    <a:pt x="292600" y="985294"/>
                    <a:pt x="330378" y="985294"/>
                  </a:cubicBezTo>
                  <a:cubicBezTo>
                    <a:pt x="368157" y="985294"/>
                    <a:pt x="404509" y="978817"/>
                    <a:pt x="438009" y="967304"/>
                  </a:cubicBezTo>
                  <a:cubicBezTo>
                    <a:pt x="438723" y="966944"/>
                    <a:pt x="439435" y="966944"/>
                    <a:pt x="440148" y="966585"/>
                  </a:cubicBezTo>
                  <a:cubicBezTo>
                    <a:pt x="565955" y="920529"/>
                    <a:pt x="658618" y="798916"/>
                    <a:pt x="660400" y="6529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52476"/>
                  </a:lnTo>
                  <a:cubicBezTo>
                    <a:pt x="1782" y="799634"/>
                    <a:pt x="93019" y="921250"/>
                    <a:pt x="220252" y="966225"/>
                  </a:cubicBezTo>
                  <a:close/>
                </a:path>
              </a:pathLst>
            </a:custGeom>
            <a:solidFill>
              <a:srgbClr val="FDDEA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905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555475" y="2855983"/>
            <a:ext cx="4872716" cy="4817898"/>
          </a:xfrm>
          <a:custGeom>
            <a:avLst/>
            <a:gdLst/>
            <a:ahLst/>
            <a:cxnLst/>
            <a:rect l="l" t="t" r="r" b="b"/>
            <a:pathLst>
              <a:path w="4872716" h="4817898">
                <a:moveTo>
                  <a:pt x="4872716" y="0"/>
                </a:moveTo>
                <a:lnTo>
                  <a:pt x="0" y="0"/>
                </a:lnTo>
                <a:lnTo>
                  <a:pt x="0" y="4817898"/>
                </a:lnTo>
                <a:lnTo>
                  <a:pt x="4872716" y="4817898"/>
                </a:lnTo>
                <a:lnTo>
                  <a:pt x="48727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12861" y="3323139"/>
            <a:ext cx="2066435" cy="2066435"/>
          </a:xfrm>
          <a:custGeom>
            <a:avLst/>
            <a:gdLst/>
            <a:ahLst/>
            <a:cxnLst/>
            <a:rect l="l" t="t" r="r" b="b"/>
            <a:pathLst>
              <a:path w="2066435" h="2066435">
                <a:moveTo>
                  <a:pt x="0" y="0"/>
                </a:moveTo>
                <a:lnTo>
                  <a:pt x="2066435" y="0"/>
                </a:lnTo>
                <a:lnTo>
                  <a:pt x="2066435" y="2066434"/>
                </a:lnTo>
                <a:lnTo>
                  <a:pt x="0" y="2066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731806" y="3543300"/>
            <a:ext cx="9205494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sz="9600" dirty="0">
                <a:solidFill>
                  <a:schemeClr val="accent3">
                    <a:lumMod val="50000"/>
                  </a:schemeClr>
                </a:solidFill>
                <a:latin typeface="Saira ExtraCondensed Bold" panose="020B0604020202020204" charset="0"/>
              </a:rPr>
              <a:t>Smart Campus: </a:t>
            </a:r>
            <a:r>
              <a:rPr lang="en-IN" sz="9600" dirty="0">
                <a:solidFill>
                  <a:schemeClr val="accent6">
                    <a:lumMod val="50000"/>
                  </a:schemeClr>
                </a:solidFill>
                <a:latin typeface="Saira ExtraCondensed Bold" panose="020B0604020202020204" charset="0"/>
              </a:rPr>
              <a:t>Placement Management System</a:t>
            </a:r>
            <a:endParaRPr lang="en-US" sz="21366" b="1" dirty="0">
              <a:solidFill>
                <a:schemeClr val="accent6">
                  <a:lumMod val="50000"/>
                </a:schemeClr>
              </a:solidFill>
              <a:latin typeface="Saira ExtraCondensed Bold" panose="020B0604020202020204" charset="0"/>
              <a:ea typeface="Saira ExtraCondensed Bold"/>
              <a:cs typeface="Saira ExtraCondensed Bold"/>
              <a:sym typeface="Saira ExtraCondensed Bold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14859000" y="2858437"/>
            <a:ext cx="2288105" cy="0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 flipV="1">
            <a:off x="9144000" y="2855983"/>
            <a:ext cx="2288105" cy="0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oval" w="lg" len="lg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1464762" y="2532520"/>
            <a:ext cx="3302254" cy="646926"/>
            <a:chOff x="0" y="0"/>
            <a:chExt cx="2074482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4482" cy="406400"/>
            </a:xfrm>
            <a:custGeom>
              <a:avLst/>
              <a:gdLst/>
              <a:ahLst/>
              <a:cxnLst/>
              <a:rect l="l" t="t" r="r" b="b"/>
              <a:pathLst>
                <a:path w="2074482" h="406400">
                  <a:moveTo>
                    <a:pt x="1871282" y="0"/>
                  </a:moveTo>
                  <a:cubicBezTo>
                    <a:pt x="1983506" y="0"/>
                    <a:pt x="2074482" y="90976"/>
                    <a:pt x="2074482" y="203200"/>
                  </a:cubicBezTo>
                  <a:cubicBezTo>
                    <a:pt x="2074482" y="315424"/>
                    <a:pt x="1983506" y="406400"/>
                    <a:pt x="18712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C"/>
            </a:solidFill>
            <a:ln w="47625" cap="sq">
              <a:solidFill>
                <a:srgbClr val="547D3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07448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44000" y="8420100"/>
            <a:ext cx="8233907" cy="0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953520" y="705620"/>
            <a:ext cx="9237730" cy="9121889"/>
          </a:xfrm>
          <a:custGeom>
            <a:avLst/>
            <a:gdLst/>
            <a:ahLst/>
            <a:cxnLst/>
            <a:rect l="l" t="t" r="r" b="b"/>
            <a:pathLst>
              <a:path w="9237730" h="9121889">
                <a:moveTo>
                  <a:pt x="0" y="0"/>
                </a:moveTo>
                <a:lnTo>
                  <a:pt x="9237730" y="0"/>
                </a:lnTo>
                <a:lnTo>
                  <a:pt x="9237730" y="9121890"/>
                </a:lnTo>
                <a:lnTo>
                  <a:pt x="0" y="9121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245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2734548"/>
            <a:ext cx="4560945" cy="4817903"/>
            <a:chOff x="0" y="0"/>
            <a:chExt cx="1201236" cy="12689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01236" cy="1268913"/>
            </a:xfrm>
            <a:custGeom>
              <a:avLst/>
              <a:gdLst/>
              <a:ahLst/>
              <a:cxnLst/>
              <a:rect l="l" t="t" r="r" b="b"/>
              <a:pathLst>
                <a:path w="1201236" h="1268913">
                  <a:moveTo>
                    <a:pt x="0" y="0"/>
                  </a:moveTo>
                  <a:lnTo>
                    <a:pt x="1201236" y="0"/>
                  </a:lnTo>
                  <a:lnTo>
                    <a:pt x="1201236" y="1268913"/>
                  </a:lnTo>
                  <a:lnTo>
                    <a:pt x="0" y="1268913"/>
                  </a:lnTo>
                  <a:close/>
                </a:path>
              </a:pathLst>
            </a:custGeom>
            <a:solidFill>
              <a:srgbClr val="547D3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01236" cy="1316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6226290" y="384220"/>
            <a:ext cx="11230363" cy="11906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6364049" y="615042"/>
            <a:ext cx="11395326" cy="898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Traditional campus placement processes often involve managing student information, company details, job opportunities, eligibility criteria, applications, interviews, and selection results through separate or manual processes.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This can lead 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Difficulty in maintaining student and recruiter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Time-consuming application management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Lack of centralized placement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Difficulty tracking application and interview status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Manual communication between students and recruiters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Limited transparency in the recruitment process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Therefore, there is a need for a centralized, secure, and scalable placement management system that can efficiently connect students, recruiters, and administrators.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BF764-B05B-33BB-3252-12AA52424CC2}"/>
              </a:ext>
            </a:extLst>
          </p:cNvPr>
          <p:cNvSpPr txBox="1"/>
          <p:nvPr/>
        </p:nvSpPr>
        <p:spPr>
          <a:xfrm>
            <a:off x="74847" y="4112402"/>
            <a:ext cx="36492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200" b="1" dirty="0">
                <a:solidFill>
                  <a:schemeClr val="bg2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PROBLEM </a:t>
            </a:r>
            <a:br>
              <a:rPr lang="en-US" sz="7200" b="1" dirty="0">
                <a:solidFill>
                  <a:schemeClr val="bg2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</a:br>
            <a:r>
              <a:rPr lang="en-US" sz="7200" b="1" dirty="0">
                <a:solidFill>
                  <a:schemeClr val="bg2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STATEMENT</a:t>
            </a: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E172666F-EF59-4D47-FBBE-53C0D0DB3436}"/>
              </a:ext>
            </a:extLst>
          </p:cNvPr>
          <p:cNvSpPr/>
          <p:nvPr/>
        </p:nvSpPr>
        <p:spPr>
          <a:xfrm>
            <a:off x="6364049" y="9873524"/>
            <a:ext cx="11230363" cy="11906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0532" y="224011"/>
            <a:ext cx="9581175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sz="15000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MOTIVATION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0255935" y="822640"/>
            <a:ext cx="7280159" cy="7429840"/>
          </a:xfrm>
          <a:custGeom>
            <a:avLst/>
            <a:gdLst/>
            <a:ahLst/>
            <a:cxnLst/>
            <a:rect l="l" t="t" r="r" b="b"/>
            <a:pathLst>
              <a:path w="7280159" h="7429840">
                <a:moveTo>
                  <a:pt x="0" y="0"/>
                </a:moveTo>
                <a:lnTo>
                  <a:pt x="7280159" y="0"/>
                </a:lnTo>
                <a:lnTo>
                  <a:pt x="7280159" y="7429841"/>
                </a:lnTo>
                <a:lnTo>
                  <a:pt x="0" y="7429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880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55935" y="8075928"/>
            <a:ext cx="7280159" cy="2364744"/>
          </a:xfrm>
          <a:custGeom>
            <a:avLst/>
            <a:gdLst/>
            <a:ahLst/>
            <a:cxnLst/>
            <a:rect l="l" t="t" r="r" b="b"/>
            <a:pathLst>
              <a:path w="7280159" h="2364744">
                <a:moveTo>
                  <a:pt x="0" y="0"/>
                </a:moveTo>
                <a:lnTo>
                  <a:pt x="7280159" y="0"/>
                </a:lnTo>
                <a:lnTo>
                  <a:pt x="7280159" y="2364744"/>
                </a:lnTo>
                <a:lnTo>
                  <a:pt x="0" y="2364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14192" b="-27678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770240" y="2552700"/>
            <a:ext cx="9049107" cy="23812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</p:sp>
      <p:grpSp>
        <p:nvGrpSpPr>
          <p:cNvPr id="7" name="Group 7"/>
          <p:cNvGrpSpPr/>
          <p:nvPr/>
        </p:nvGrpSpPr>
        <p:grpSpPr>
          <a:xfrm>
            <a:off x="11337325" y="4297066"/>
            <a:ext cx="5117379" cy="945802"/>
            <a:chOff x="0" y="0"/>
            <a:chExt cx="1347787" cy="249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7787" cy="249100"/>
            </a:xfrm>
            <a:custGeom>
              <a:avLst/>
              <a:gdLst/>
              <a:ahLst/>
              <a:cxnLst/>
              <a:rect l="l" t="t" r="r" b="b"/>
              <a:pathLst>
                <a:path w="1347787" h="249100">
                  <a:moveTo>
                    <a:pt x="60515" y="0"/>
                  </a:moveTo>
                  <a:lnTo>
                    <a:pt x="1287272" y="0"/>
                  </a:lnTo>
                  <a:cubicBezTo>
                    <a:pt x="1320694" y="0"/>
                    <a:pt x="1347787" y="27093"/>
                    <a:pt x="1347787" y="60515"/>
                  </a:cubicBezTo>
                  <a:lnTo>
                    <a:pt x="1347787" y="188585"/>
                  </a:lnTo>
                  <a:cubicBezTo>
                    <a:pt x="1347787" y="222007"/>
                    <a:pt x="1320694" y="249100"/>
                    <a:pt x="1287272" y="249100"/>
                  </a:cubicBezTo>
                  <a:lnTo>
                    <a:pt x="60515" y="249100"/>
                  </a:lnTo>
                  <a:cubicBezTo>
                    <a:pt x="27093" y="249100"/>
                    <a:pt x="0" y="222007"/>
                    <a:pt x="0" y="188585"/>
                  </a:cubicBezTo>
                  <a:lnTo>
                    <a:pt x="0" y="60515"/>
                  </a:lnTo>
                  <a:cubicBezTo>
                    <a:pt x="0" y="27093"/>
                    <a:pt x="27093" y="0"/>
                    <a:pt x="60515" y="0"/>
                  </a:cubicBezTo>
                  <a:close/>
                </a:path>
              </a:pathLst>
            </a:custGeom>
            <a:solidFill>
              <a:srgbClr val="FDDEA4"/>
            </a:solidFill>
            <a:ln w="38100" cap="rnd">
              <a:solidFill>
                <a:srgbClr val="547D39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47787" cy="2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70240" y="2808930"/>
            <a:ext cx="8808181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Bold" panose="020B0604020202020204" charset="0"/>
              </a:rPr>
              <a:t>Centralized Placement Management:</a:t>
            </a:r>
            <a:r>
              <a:rPr lang="en-IN" sz="3200" dirty="0">
                <a:solidFill>
                  <a:srgbClr val="70170A"/>
                </a:solidFill>
                <a:latin typeface="Saira ExtraCondensed Bold" panose="020B0604020202020204" charset="0"/>
              </a:rPr>
              <a:t> </a:t>
            </a:r>
            <a:r>
              <a:rPr lang="en-IN" sz="3200" dirty="0">
                <a:solidFill>
                  <a:srgbClr val="547D39"/>
                </a:solidFill>
                <a:latin typeface="Saira ExtraCondensed Bold" panose="020B0604020202020204" charset="0"/>
              </a:rPr>
              <a:t>Manage students, recruiters, jobs, and applications in one platform.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Bold" panose="020B0604020202020204" charset="0"/>
              </a:rPr>
              <a:t>Efficient Application Tracking:</a:t>
            </a:r>
            <a:r>
              <a:rPr lang="en-IN" sz="3200" dirty="0">
                <a:solidFill>
                  <a:srgbClr val="70170A"/>
                </a:solidFill>
                <a:latin typeface="Saira ExtraCondensed Bold" panose="020B0604020202020204" charset="0"/>
              </a:rPr>
              <a:t> </a:t>
            </a:r>
            <a:r>
              <a:rPr lang="en-IN" sz="3200" dirty="0">
                <a:solidFill>
                  <a:srgbClr val="547D39"/>
                </a:solidFill>
                <a:latin typeface="Saira ExtraCondensed Bold" panose="020B0604020202020204" charset="0"/>
              </a:rPr>
              <a:t>Allow students to track their applications from submission to final selection.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Bold" panose="020B0604020202020204" charset="0"/>
              </a:rPr>
              <a:t>Better Recruiter Management:</a:t>
            </a:r>
            <a:r>
              <a:rPr lang="en-IN" sz="3200" dirty="0">
                <a:solidFill>
                  <a:srgbClr val="70170A"/>
                </a:solidFill>
                <a:latin typeface="Saira ExtraCondensed Bold" panose="020B0604020202020204" charset="0"/>
              </a:rPr>
              <a:t> </a:t>
            </a:r>
            <a:r>
              <a:rPr lang="en-IN" sz="3200" dirty="0">
                <a:solidFill>
                  <a:srgbClr val="547D39"/>
                </a:solidFill>
                <a:latin typeface="Saira ExtraCondensed Bold" panose="020B0604020202020204" charset="0"/>
              </a:rPr>
              <a:t>Enable recruiters to create job postings, review candidates, and manage recruitment stages.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Bold" panose="020B0604020202020204" charset="0"/>
              </a:rPr>
              <a:t>Reduced Manual Work:</a:t>
            </a:r>
            <a:r>
              <a:rPr lang="en-IN" sz="3200" dirty="0">
                <a:solidFill>
                  <a:srgbClr val="70170A"/>
                </a:solidFill>
                <a:latin typeface="Saira ExtraCondensed Bold" panose="020B0604020202020204" charset="0"/>
              </a:rPr>
              <a:t> </a:t>
            </a:r>
            <a:r>
              <a:rPr lang="en-IN" sz="3200" dirty="0">
                <a:solidFill>
                  <a:srgbClr val="547D39"/>
                </a:solidFill>
                <a:latin typeface="Saira ExtraCondensed Bold" panose="020B0604020202020204" charset="0"/>
              </a:rPr>
              <a:t>Automate repetitive placement-related activities.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Bold" panose="020B0604020202020204" charset="0"/>
              </a:rPr>
              <a:t>Improved Transparency:</a:t>
            </a:r>
            <a:r>
              <a:rPr lang="en-IN" sz="3200" dirty="0">
                <a:solidFill>
                  <a:srgbClr val="70170A"/>
                </a:solidFill>
                <a:latin typeface="Saira ExtraCondensed Bold" panose="020B0604020202020204" charset="0"/>
              </a:rPr>
              <a:t> </a:t>
            </a:r>
            <a:r>
              <a:rPr lang="en-IN" sz="3200" dirty="0">
                <a:solidFill>
                  <a:srgbClr val="547D39"/>
                </a:solidFill>
                <a:latin typeface="Saira ExtraCondensed Bold" panose="020B0604020202020204" charset="0"/>
              </a:rPr>
              <a:t>Provide students and recruiters with timely and accurate placement information.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82418" y="2279605"/>
            <a:ext cx="5488615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547D39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KEY</a:t>
            </a:r>
            <a:br>
              <a:rPr lang="en-US" sz="5400" b="1" dirty="0">
                <a:solidFill>
                  <a:srgbClr val="547D39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</a:br>
            <a:r>
              <a:rPr lang="en-US" sz="5400" b="1" dirty="0">
                <a:solidFill>
                  <a:srgbClr val="547D39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STAKEHOLDERS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337325" y="5364117"/>
            <a:ext cx="5117379" cy="945802"/>
            <a:chOff x="0" y="0"/>
            <a:chExt cx="1347787" cy="249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7787" cy="249100"/>
            </a:xfrm>
            <a:custGeom>
              <a:avLst/>
              <a:gdLst/>
              <a:ahLst/>
              <a:cxnLst/>
              <a:rect l="l" t="t" r="r" b="b"/>
              <a:pathLst>
                <a:path w="1347787" h="249100">
                  <a:moveTo>
                    <a:pt x="60515" y="0"/>
                  </a:moveTo>
                  <a:lnTo>
                    <a:pt x="1287272" y="0"/>
                  </a:lnTo>
                  <a:cubicBezTo>
                    <a:pt x="1320694" y="0"/>
                    <a:pt x="1347787" y="27093"/>
                    <a:pt x="1347787" y="60515"/>
                  </a:cubicBezTo>
                  <a:lnTo>
                    <a:pt x="1347787" y="188585"/>
                  </a:lnTo>
                  <a:cubicBezTo>
                    <a:pt x="1347787" y="222007"/>
                    <a:pt x="1320694" y="249100"/>
                    <a:pt x="1287272" y="249100"/>
                  </a:cubicBezTo>
                  <a:lnTo>
                    <a:pt x="60515" y="249100"/>
                  </a:lnTo>
                  <a:cubicBezTo>
                    <a:pt x="27093" y="249100"/>
                    <a:pt x="0" y="222007"/>
                    <a:pt x="0" y="188585"/>
                  </a:cubicBezTo>
                  <a:lnTo>
                    <a:pt x="0" y="60515"/>
                  </a:lnTo>
                  <a:cubicBezTo>
                    <a:pt x="0" y="27093"/>
                    <a:pt x="27093" y="0"/>
                    <a:pt x="60515" y="0"/>
                  </a:cubicBezTo>
                  <a:close/>
                </a:path>
              </a:pathLst>
            </a:custGeom>
            <a:solidFill>
              <a:srgbClr val="FDDEA4"/>
            </a:solidFill>
            <a:ln w="38100" cap="rnd">
              <a:solidFill>
                <a:srgbClr val="547D39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47787" cy="2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337325" y="6431167"/>
            <a:ext cx="5117379" cy="945802"/>
            <a:chOff x="0" y="0"/>
            <a:chExt cx="1347787" cy="249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7787" cy="249100"/>
            </a:xfrm>
            <a:custGeom>
              <a:avLst/>
              <a:gdLst/>
              <a:ahLst/>
              <a:cxnLst/>
              <a:rect l="l" t="t" r="r" b="b"/>
              <a:pathLst>
                <a:path w="1347787" h="249100">
                  <a:moveTo>
                    <a:pt x="60515" y="0"/>
                  </a:moveTo>
                  <a:lnTo>
                    <a:pt x="1287272" y="0"/>
                  </a:lnTo>
                  <a:cubicBezTo>
                    <a:pt x="1320694" y="0"/>
                    <a:pt x="1347787" y="27093"/>
                    <a:pt x="1347787" y="60515"/>
                  </a:cubicBezTo>
                  <a:lnTo>
                    <a:pt x="1347787" y="188585"/>
                  </a:lnTo>
                  <a:cubicBezTo>
                    <a:pt x="1347787" y="222007"/>
                    <a:pt x="1320694" y="249100"/>
                    <a:pt x="1287272" y="249100"/>
                  </a:cubicBezTo>
                  <a:lnTo>
                    <a:pt x="60515" y="249100"/>
                  </a:lnTo>
                  <a:cubicBezTo>
                    <a:pt x="27093" y="249100"/>
                    <a:pt x="0" y="222007"/>
                    <a:pt x="0" y="188585"/>
                  </a:cubicBezTo>
                  <a:lnTo>
                    <a:pt x="0" y="60515"/>
                  </a:lnTo>
                  <a:cubicBezTo>
                    <a:pt x="0" y="27093"/>
                    <a:pt x="27093" y="0"/>
                    <a:pt x="60515" y="0"/>
                  </a:cubicBezTo>
                  <a:close/>
                </a:path>
              </a:pathLst>
            </a:custGeom>
            <a:solidFill>
              <a:srgbClr val="FDDEA4"/>
            </a:solidFill>
            <a:ln w="38100" cap="rnd">
              <a:solidFill>
                <a:srgbClr val="547D39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347787" cy="2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337325" y="7498218"/>
            <a:ext cx="5117379" cy="945802"/>
            <a:chOff x="0" y="0"/>
            <a:chExt cx="1347787" cy="249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7787" cy="249100"/>
            </a:xfrm>
            <a:custGeom>
              <a:avLst/>
              <a:gdLst/>
              <a:ahLst/>
              <a:cxnLst/>
              <a:rect l="l" t="t" r="r" b="b"/>
              <a:pathLst>
                <a:path w="1347787" h="249100">
                  <a:moveTo>
                    <a:pt x="60515" y="0"/>
                  </a:moveTo>
                  <a:lnTo>
                    <a:pt x="1287272" y="0"/>
                  </a:lnTo>
                  <a:cubicBezTo>
                    <a:pt x="1320694" y="0"/>
                    <a:pt x="1347787" y="27093"/>
                    <a:pt x="1347787" y="60515"/>
                  </a:cubicBezTo>
                  <a:lnTo>
                    <a:pt x="1347787" y="188585"/>
                  </a:lnTo>
                  <a:cubicBezTo>
                    <a:pt x="1347787" y="222007"/>
                    <a:pt x="1320694" y="249100"/>
                    <a:pt x="1287272" y="249100"/>
                  </a:cubicBezTo>
                  <a:lnTo>
                    <a:pt x="60515" y="249100"/>
                  </a:lnTo>
                  <a:cubicBezTo>
                    <a:pt x="27093" y="249100"/>
                    <a:pt x="0" y="222007"/>
                    <a:pt x="0" y="188585"/>
                  </a:cubicBezTo>
                  <a:lnTo>
                    <a:pt x="0" y="60515"/>
                  </a:lnTo>
                  <a:cubicBezTo>
                    <a:pt x="0" y="27093"/>
                    <a:pt x="27093" y="0"/>
                    <a:pt x="60515" y="0"/>
                  </a:cubicBezTo>
                  <a:close/>
                </a:path>
              </a:pathLst>
            </a:custGeom>
            <a:solidFill>
              <a:srgbClr val="FDDEA4"/>
            </a:solidFill>
            <a:ln w="38100" cap="rnd">
              <a:solidFill>
                <a:srgbClr val="547D39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347787" cy="2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37325" y="8565268"/>
            <a:ext cx="5117379" cy="945802"/>
            <a:chOff x="0" y="0"/>
            <a:chExt cx="1347787" cy="249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47787" cy="249100"/>
            </a:xfrm>
            <a:custGeom>
              <a:avLst/>
              <a:gdLst/>
              <a:ahLst/>
              <a:cxnLst/>
              <a:rect l="l" t="t" r="r" b="b"/>
              <a:pathLst>
                <a:path w="1347787" h="249100">
                  <a:moveTo>
                    <a:pt x="60515" y="0"/>
                  </a:moveTo>
                  <a:lnTo>
                    <a:pt x="1287272" y="0"/>
                  </a:lnTo>
                  <a:cubicBezTo>
                    <a:pt x="1320694" y="0"/>
                    <a:pt x="1347787" y="27093"/>
                    <a:pt x="1347787" y="60515"/>
                  </a:cubicBezTo>
                  <a:lnTo>
                    <a:pt x="1347787" y="188585"/>
                  </a:lnTo>
                  <a:cubicBezTo>
                    <a:pt x="1347787" y="222007"/>
                    <a:pt x="1320694" y="249100"/>
                    <a:pt x="1287272" y="249100"/>
                  </a:cubicBezTo>
                  <a:lnTo>
                    <a:pt x="60515" y="249100"/>
                  </a:lnTo>
                  <a:cubicBezTo>
                    <a:pt x="27093" y="249100"/>
                    <a:pt x="0" y="222007"/>
                    <a:pt x="0" y="188585"/>
                  </a:cubicBezTo>
                  <a:lnTo>
                    <a:pt x="0" y="60515"/>
                  </a:lnTo>
                  <a:cubicBezTo>
                    <a:pt x="0" y="27093"/>
                    <a:pt x="27093" y="0"/>
                    <a:pt x="60515" y="0"/>
                  </a:cubicBezTo>
                  <a:close/>
                </a:path>
              </a:pathLst>
            </a:custGeom>
            <a:solidFill>
              <a:srgbClr val="FDDEA4"/>
            </a:solidFill>
            <a:ln w="38100" cap="rnd">
              <a:solidFill>
                <a:srgbClr val="547D39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347787" cy="2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43141" y="4525492"/>
            <a:ext cx="4905748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0170A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Students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43141" y="5592543"/>
            <a:ext cx="4905748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0170A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Recruiters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43141" y="6659593"/>
            <a:ext cx="4905748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0170A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Placement Officers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43141" y="7726644"/>
            <a:ext cx="4905748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0170A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Administrators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3141" y="8793694"/>
            <a:ext cx="4905748" cy="45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0170A"/>
                </a:solidFill>
                <a:latin typeface="Saira ExtraCondensed Semi-Bold"/>
                <a:ea typeface="Saira ExtraCondensed Semi-Bold"/>
                <a:cs typeface="Saira ExtraCondensed Semi-Bold"/>
                <a:sym typeface="Saira ExtraCondensed Semi-Bold"/>
              </a:rPr>
              <a:t>Companies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457200" y="395517"/>
            <a:ext cx="12213945" cy="1824176"/>
          </a:xfrm>
          <a:custGeom>
            <a:avLst/>
            <a:gdLst/>
            <a:ahLst/>
            <a:cxnLst/>
            <a:rect l="l" t="t" r="r" b="b"/>
            <a:pathLst>
              <a:path w="10393486" h="1058246">
                <a:moveTo>
                  <a:pt x="0" y="0"/>
                </a:moveTo>
                <a:lnTo>
                  <a:pt x="10393486" y="0"/>
                </a:lnTo>
                <a:lnTo>
                  <a:pt x="10393486" y="1058246"/>
                </a:lnTo>
                <a:lnTo>
                  <a:pt x="0" y="10582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2954000" y="3781104"/>
            <a:ext cx="4606699" cy="3875385"/>
          </a:xfrm>
          <a:custGeom>
            <a:avLst/>
            <a:gdLst/>
            <a:ahLst/>
            <a:cxnLst/>
            <a:rect l="l" t="t" r="r" b="b"/>
            <a:pathLst>
              <a:path w="4606699" h="3875385">
                <a:moveTo>
                  <a:pt x="0" y="0"/>
                </a:moveTo>
                <a:lnTo>
                  <a:pt x="4606699" y="0"/>
                </a:lnTo>
                <a:lnTo>
                  <a:pt x="4606699" y="3875385"/>
                </a:lnTo>
                <a:lnTo>
                  <a:pt x="0" y="3875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52600" y="120610"/>
            <a:ext cx="12262593" cy="240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OBJECTIVES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7200" y="2265009"/>
            <a:ext cx="12213945" cy="7689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develop a centralized platform for managing campus placement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implement a microservices-based architecture for independent and scalable services.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allow students to manage profiles and apply for suitable job opportunities.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enable recruiters to create job postings and manage applications.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implement eligibility checking and candidate shortlisting.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provide application, interview, and selection status tracking.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implement secure authentication using JWT.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provide role-based authorization for students, recruiters, and administrators.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enable communication between services using REST APIs.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To improve the overall efficiency and transparency of the campus placement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505701" y="1336142"/>
            <a:ext cx="897182" cy="1359367"/>
          </a:xfrm>
          <a:custGeom>
            <a:avLst/>
            <a:gdLst/>
            <a:ahLst/>
            <a:cxnLst/>
            <a:rect l="l" t="t" r="r" b="b"/>
            <a:pathLst>
              <a:path w="897182" h="1359367">
                <a:moveTo>
                  <a:pt x="0" y="0"/>
                </a:moveTo>
                <a:lnTo>
                  <a:pt x="897183" y="0"/>
                </a:lnTo>
                <a:lnTo>
                  <a:pt x="897183" y="1359367"/>
                </a:lnTo>
                <a:lnTo>
                  <a:pt x="0" y="1359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08246" y="434392"/>
            <a:ext cx="16871507" cy="28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47"/>
              </a:lnSpc>
              <a:spcBef>
                <a:spcPct val="0"/>
              </a:spcBef>
            </a:pPr>
            <a:r>
              <a:rPr lang="en-US" sz="16605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LITERATURE SURVEY</a:t>
            </a:r>
          </a:p>
        </p:txBody>
      </p:sp>
      <p:sp>
        <p:nvSpPr>
          <p:cNvPr id="20" name="Freeform 20"/>
          <p:cNvSpPr/>
          <p:nvPr/>
        </p:nvSpPr>
        <p:spPr>
          <a:xfrm flipH="1">
            <a:off x="885116" y="1339285"/>
            <a:ext cx="897182" cy="1359367"/>
          </a:xfrm>
          <a:custGeom>
            <a:avLst/>
            <a:gdLst/>
            <a:ahLst/>
            <a:cxnLst/>
            <a:rect l="l" t="t" r="r" b="b"/>
            <a:pathLst>
              <a:path w="897182" h="1359367">
                <a:moveTo>
                  <a:pt x="897183" y="0"/>
                </a:moveTo>
                <a:lnTo>
                  <a:pt x="0" y="0"/>
                </a:lnTo>
                <a:lnTo>
                  <a:pt x="0" y="1359367"/>
                </a:lnTo>
                <a:lnTo>
                  <a:pt x="897183" y="1359367"/>
                </a:lnTo>
                <a:lnTo>
                  <a:pt x="8971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9B4A02D-1678-6509-91BC-1ACEDD039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496970"/>
              </p:ext>
            </p:extLst>
          </p:nvPr>
        </p:nvGraphicFramePr>
        <p:xfrm>
          <a:off x="1437017" y="3241596"/>
          <a:ext cx="15413965" cy="62675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2793">
                  <a:extLst>
                    <a:ext uri="{9D8B030D-6E8A-4147-A177-3AD203B41FA5}">
                      <a16:colId xmlns:a16="http://schemas.microsoft.com/office/drawing/2014/main" val="1193526392"/>
                    </a:ext>
                  </a:extLst>
                </a:gridCol>
                <a:gridCol w="3082793">
                  <a:extLst>
                    <a:ext uri="{9D8B030D-6E8A-4147-A177-3AD203B41FA5}">
                      <a16:colId xmlns:a16="http://schemas.microsoft.com/office/drawing/2014/main" val="2164991469"/>
                    </a:ext>
                  </a:extLst>
                </a:gridCol>
                <a:gridCol w="3082793">
                  <a:extLst>
                    <a:ext uri="{9D8B030D-6E8A-4147-A177-3AD203B41FA5}">
                      <a16:colId xmlns:a16="http://schemas.microsoft.com/office/drawing/2014/main" val="3788145048"/>
                    </a:ext>
                  </a:extLst>
                </a:gridCol>
                <a:gridCol w="3082793">
                  <a:extLst>
                    <a:ext uri="{9D8B030D-6E8A-4147-A177-3AD203B41FA5}">
                      <a16:colId xmlns:a16="http://schemas.microsoft.com/office/drawing/2014/main" val="3733908512"/>
                    </a:ext>
                  </a:extLst>
                </a:gridCol>
                <a:gridCol w="3082793">
                  <a:extLst>
                    <a:ext uri="{9D8B030D-6E8A-4147-A177-3AD203B41FA5}">
                      <a16:colId xmlns:a16="http://schemas.microsoft.com/office/drawing/2014/main" val="1709572313"/>
                    </a:ext>
                  </a:extLst>
                </a:gridCol>
              </a:tblGrid>
              <a:tr h="380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  <a:latin typeface="Saira ExtraCondensed SemiBold"/>
                        </a:rPr>
                        <a:t>Year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  <a:latin typeface="Saira ExtraCondensed SemiBold"/>
                        </a:rPr>
                        <a:t>Existing System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  <a:latin typeface="Saira ExtraCondensed SemiBold"/>
                        </a:rPr>
                        <a:t>Methodology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  <a:latin typeface="Saira ExtraCondensed SemiBold"/>
                        </a:rPr>
                        <a:t>Inference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  <a:latin typeface="Saira ExtraCondensed SemiBold"/>
                        </a:rPr>
                        <a:t>Limitation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626542"/>
                  </a:ext>
                </a:extLst>
              </a:tr>
              <a:tr h="1241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2021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Online Campus Recruitment System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Web-based recruitment management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Centralizes student and recruitment information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Limited microservices and scalability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106045"/>
                  </a:ext>
                </a:extLst>
              </a:tr>
              <a:tr h="1528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2022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Student Placement Management System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Database-driven placement portal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Helps manage student applications and company details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Limited automation and integration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370293"/>
                  </a:ext>
                </a:extLst>
              </a:tr>
              <a:tr h="1528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2023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E-Recruitment Platform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Online job and candidate management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Improves communication between recruiters and candidates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Limited role-based workflows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888917"/>
                  </a:ext>
                </a:extLst>
              </a:tr>
              <a:tr h="1528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2024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Smart Campus Recruitment Platform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Saira ExtraCondensed SemiBold"/>
                        </a:rPr>
                        <a:t>Cloud-based recruitment management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Provides centralized access to placement services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Saira ExtraCondensed SemiBold"/>
                        </a:rPr>
                        <a:t>Scope for improved service independence and security</a:t>
                      </a:r>
                    </a:p>
                  </a:txBody>
                  <a:tcPr marL="69630" marR="69630" marT="34815" marB="34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908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96895" y="2800880"/>
            <a:ext cx="3597482" cy="3651963"/>
          </a:xfrm>
          <a:custGeom>
            <a:avLst/>
            <a:gdLst/>
            <a:ahLst/>
            <a:cxnLst/>
            <a:rect l="l" t="t" r="r" b="b"/>
            <a:pathLst>
              <a:path w="3597482" h="3651963">
                <a:moveTo>
                  <a:pt x="0" y="0"/>
                </a:moveTo>
                <a:lnTo>
                  <a:pt x="3597482" y="0"/>
                </a:lnTo>
                <a:lnTo>
                  <a:pt x="3597482" y="3651962"/>
                </a:lnTo>
                <a:lnTo>
                  <a:pt x="0" y="3651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38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4186240" y="3680068"/>
            <a:ext cx="3597482" cy="1893586"/>
          </a:xfrm>
          <a:custGeom>
            <a:avLst/>
            <a:gdLst/>
            <a:ahLst/>
            <a:cxnLst/>
            <a:rect l="l" t="t" r="r" b="b"/>
            <a:pathLst>
              <a:path w="3597482" h="1893586">
                <a:moveTo>
                  <a:pt x="0" y="0"/>
                </a:moveTo>
                <a:lnTo>
                  <a:pt x="3597483" y="0"/>
                </a:lnTo>
                <a:lnTo>
                  <a:pt x="3597483" y="1893586"/>
                </a:lnTo>
                <a:lnTo>
                  <a:pt x="0" y="18935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2084" b="-1888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6013179" y="3689461"/>
            <a:ext cx="3597482" cy="1874800"/>
          </a:xfrm>
          <a:custGeom>
            <a:avLst/>
            <a:gdLst/>
            <a:ahLst/>
            <a:cxnLst/>
            <a:rect l="l" t="t" r="r" b="b"/>
            <a:pathLst>
              <a:path w="3597482" h="1874800">
                <a:moveTo>
                  <a:pt x="0" y="0"/>
                </a:moveTo>
                <a:lnTo>
                  <a:pt x="3597482" y="0"/>
                </a:lnTo>
                <a:lnTo>
                  <a:pt x="3597482" y="1874800"/>
                </a:lnTo>
                <a:lnTo>
                  <a:pt x="0" y="187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3006" b="-20076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7854894" y="3684077"/>
            <a:ext cx="3597482" cy="1885568"/>
          </a:xfrm>
          <a:custGeom>
            <a:avLst/>
            <a:gdLst/>
            <a:ahLst/>
            <a:cxnLst/>
            <a:rect l="l" t="t" r="r" b="b"/>
            <a:pathLst>
              <a:path w="3597482" h="1885568">
                <a:moveTo>
                  <a:pt x="0" y="0"/>
                </a:moveTo>
                <a:lnTo>
                  <a:pt x="3597483" y="0"/>
                </a:lnTo>
                <a:lnTo>
                  <a:pt x="3597483" y="1885568"/>
                </a:lnTo>
                <a:lnTo>
                  <a:pt x="0" y="1885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2475" b="-19390"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9676802" y="3698501"/>
            <a:ext cx="3597482" cy="1856720"/>
          </a:xfrm>
          <a:custGeom>
            <a:avLst/>
            <a:gdLst/>
            <a:ahLst/>
            <a:cxnLst/>
            <a:rect l="l" t="t" r="r" b="b"/>
            <a:pathLst>
              <a:path w="3597482" h="1856720">
                <a:moveTo>
                  <a:pt x="0" y="0"/>
                </a:moveTo>
                <a:lnTo>
                  <a:pt x="3597482" y="0"/>
                </a:lnTo>
                <a:lnTo>
                  <a:pt x="3597482" y="1856720"/>
                </a:lnTo>
                <a:lnTo>
                  <a:pt x="0" y="1856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3912" b="-2124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1503905" y="3707729"/>
            <a:ext cx="3597482" cy="1838264"/>
          </a:xfrm>
          <a:custGeom>
            <a:avLst/>
            <a:gdLst/>
            <a:ahLst/>
            <a:cxnLst/>
            <a:rect l="l" t="t" r="r" b="b"/>
            <a:pathLst>
              <a:path w="3597482" h="1838264">
                <a:moveTo>
                  <a:pt x="0" y="0"/>
                </a:moveTo>
                <a:lnTo>
                  <a:pt x="3597483" y="0"/>
                </a:lnTo>
                <a:lnTo>
                  <a:pt x="3597483" y="1838264"/>
                </a:lnTo>
                <a:lnTo>
                  <a:pt x="0" y="1838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4855" b="-22462"/>
            </a:stretch>
          </a:blipFill>
        </p:spPr>
      </p:sp>
      <p:sp>
        <p:nvSpPr>
          <p:cNvPr id="8" name="Freeform 8"/>
          <p:cNvSpPr/>
          <p:nvPr/>
        </p:nvSpPr>
        <p:spPr>
          <a:xfrm rot="-5400000" flipV="1">
            <a:off x="13219843" y="2827099"/>
            <a:ext cx="3597482" cy="3599523"/>
          </a:xfrm>
          <a:custGeom>
            <a:avLst/>
            <a:gdLst/>
            <a:ahLst/>
            <a:cxnLst/>
            <a:rect l="l" t="t" r="r" b="b"/>
            <a:pathLst>
              <a:path w="3597482" h="3599523">
                <a:moveTo>
                  <a:pt x="0" y="3599524"/>
                </a:moveTo>
                <a:lnTo>
                  <a:pt x="3597482" y="3599524"/>
                </a:lnTo>
                <a:lnTo>
                  <a:pt x="3597482" y="0"/>
                </a:lnTo>
                <a:lnTo>
                  <a:pt x="0" y="0"/>
                </a:lnTo>
                <a:lnTo>
                  <a:pt x="0" y="35995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98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1532" y="3856481"/>
            <a:ext cx="1540761" cy="1540761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08246" y="246845"/>
            <a:ext cx="16871507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RESEARCH GAP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1699" y="3434111"/>
            <a:ext cx="139446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sz="3200" b="1" dirty="0">
                <a:solidFill>
                  <a:srgbClr val="70170A"/>
                </a:solidFill>
                <a:latin typeface="Saira ExtraCondensed SemiBold"/>
              </a:rPr>
              <a:t>Existing placement management systems generally focus on basic student registration, company management, job postings, and application tracking. There is a need for an integrated placement platform that combines secure authentication, microservices, service discovery, API gateway routing, and independent databases into a scalable campus placement ecosystem.</a:t>
            </a:r>
            <a:endParaRPr lang="en-US" sz="2800" b="1" dirty="0">
              <a:solidFill>
                <a:srgbClr val="70170A"/>
              </a:solidFill>
              <a:latin typeface="Saira ExtraCondensed SemiBold"/>
              <a:ea typeface="Saira ExtraCondensed Semi-Bold"/>
              <a:cs typeface="Saira ExtraCondensed Semi-Bold"/>
              <a:sym typeface="Saira ExtraCondensed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86308" y="6410505"/>
            <a:ext cx="7480777" cy="361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SemiBold"/>
              </a:rPr>
              <a:t>Independent microservices for different placement functions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SemiBold"/>
              </a:rPr>
              <a:t>Better service-to-service communication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SemiBold"/>
              </a:rPr>
              <a:t>Secure JWT-based authentication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  <a:latin typeface="Saira ExtraCondensed SemiBold"/>
              </a:rPr>
              <a:t>Role-based access for different users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7326" y="6395407"/>
            <a:ext cx="7480777" cy="361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</a:rPr>
              <a:t>Independent databases for services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</a:rPr>
              <a:t>Centralized API routing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</a:rPr>
              <a:t>Service discovery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70170A"/>
                </a:solidFill>
              </a:rPr>
              <a:t>Scalable architecture for growing placement data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337436" y="3856481"/>
            <a:ext cx="1540761" cy="1540761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6">
            <a:extLst>
              <a:ext uri="{FF2B5EF4-FFF2-40B4-BE49-F238E27FC236}">
                <a16:creationId xmlns:a16="http://schemas.microsoft.com/office/drawing/2014/main" id="{03D4C85C-97A5-78FB-7AA0-0713B408747F}"/>
              </a:ext>
            </a:extLst>
          </p:cNvPr>
          <p:cNvGrpSpPr/>
          <p:nvPr/>
        </p:nvGrpSpPr>
        <p:grpSpPr>
          <a:xfrm rot="5400000">
            <a:off x="15487984" y="441441"/>
            <a:ext cx="6012550" cy="9404117"/>
            <a:chOff x="0" y="-47625"/>
            <a:chExt cx="660400" cy="1032919"/>
          </a:xfrm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90701600-2ABC-A24A-4581-B6F1C762DCC9}"/>
                </a:ext>
              </a:extLst>
            </p:cNvPr>
            <p:cNvSpPr/>
            <p:nvPr/>
          </p:nvSpPr>
          <p:spPr>
            <a:xfrm>
              <a:off x="0" y="0"/>
              <a:ext cx="660400" cy="985294"/>
            </a:xfrm>
            <a:custGeom>
              <a:avLst/>
              <a:gdLst/>
              <a:ahLst/>
              <a:cxnLst/>
              <a:rect l="l" t="t" r="r" b="b"/>
              <a:pathLst>
                <a:path w="660400" h="985294">
                  <a:moveTo>
                    <a:pt x="220252" y="966225"/>
                  </a:moveTo>
                  <a:cubicBezTo>
                    <a:pt x="254109" y="977739"/>
                    <a:pt x="292600" y="985294"/>
                    <a:pt x="330378" y="985294"/>
                  </a:cubicBezTo>
                  <a:cubicBezTo>
                    <a:pt x="368157" y="985294"/>
                    <a:pt x="404509" y="978817"/>
                    <a:pt x="438009" y="967304"/>
                  </a:cubicBezTo>
                  <a:cubicBezTo>
                    <a:pt x="438723" y="966944"/>
                    <a:pt x="439435" y="966944"/>
                    <a:pt x="440148" y="966585"/>
                  </a:cubicBezTo>
                  <a:cubicBezTo>
                    <a:pt x="565955" y="920529"/>
                    <a:pt x="658618" y="798916"/>
                    <a:pt x="660400" y="6529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52476"/>
                  </a:lnTo>
                  <a:cubicBezTo>
                    <a:pt x="1782" y="799634"/>
                    <a:pt x="93019" y="921250"/>
                    <a:pt x="220252" y="966225"/>
                  </a:cubicBezTo>
                  <a:close/>
                </a:path>
              </a:pathLst>
            </a:custGeom>
            <a:solidFill>
              <a:srgbClr val="FDDEA4"/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FE79CCB0-9124-585C-44EC-7812381DE8EF}"/>
                </a:ext>
              </a:extLst>
            </p:cNvPr>
            <p:cNvSpPr txBox="1"/>
            <p:nvPr/>
          </p:nvSpPr>
          <p:spPr>
            <a:xfrm>
              <a:off x="0" y="-47625"/>
              <a:ext cx="660400" cy="905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-5400000">
            <a:off x="12515080" y="582554"/>
            <a:ext cx="9237730" cy="9121889"/>
          </a:xfrm>
          <a:custGeom>
            <a:avLst/>
            <a:gdLst/>
            <a:ahLst/>
            <a:cxnLst/>
            <a:rect l="l" t="t" r="r" b="b"/>
            <a:pathLst>
              <a:path w="9237730" h="9121889">
                <a:moveTo>
                  <a:pt x="0" y="0"/>
                </a:moveTo>
                <a:lnTo>
                  <a:pt x="9237730" y="0"/>
                </a:lnTo>
                <a:lnTo>
                  <a:pt x="9237730" y="9121890"/>
                </a:lnTo>
                <a:lnTo>
                  <a:pt x="0" y="9121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245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249400" y="3328667"/>
            <a:ext cx="9185110" cy="274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0"/>
              </a:lnSpc>
              <a:spcBef>
                <a:spcPct val="0"/>
              </a:spcBef>
            </a:pPr>
            <a:r>
              <a:rPr lang="en-US" sz="11800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NOVELTY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04799" y="952500"/>
            <a:ext cx="12030009" cy="9151894"/>
            <a:chOff x="0" y="0"/>
            <a:chExt cx="2141031" cy="50318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1031" cy="503186"/>
            </a:xfrm>
            <a:custGeom>
              <a:avLst/>
              <a:gdLst/>
              <a:ahLst/>
              <a:cxnLst/>
              <a:rect l="l" t="t" r="r" b="b"/>
              <a:pathLst>
                <a:path w="2141031" h="503186">
                  <a:moveTo>
                    <a:pt x="19047" y="0"/>
                  </a:moveTo>
                  <a:lnTo>
                    <a:pt x="2121984" y="0"/>
                  </a:lnTo>
                  <a:cubicBezTo>
                    <a:pt x="2127035" y="0"/>
                    <a:pt x="2131880" y="2007"/>
                    <a:pt x="2135452" y="5579"/>
                  </a:cubicBezTo>
                  <a:cubicBezTo>
                    <a:pt x="2139024" y="9151"/>
                    <a:pt x="2141031" y="13996"/>
                    <a:pt x="2141031" y="19047"/>
                  </a:cubicBezTo>
                  <a:lnTo>
                    <a:pt x="2141031" y="484139"/>
                  </a:lnTo>
                  <a:cubicBezTo>
                    <a:pt x="2141031" y="494659"/>
                    <a:pt x="2132503" y="503186"/>
                    <a:pt x="2121984" y="503186"/>
                  </a:cubicBezTo>
                  <a:lnTo>
                    <a:pt x="19047" y="503186"/>
                  </a:lnTo>
                  <a:cubicBezTo>
                    <a:pt x="8528" y="503186"/>
                    <a:pt x="0" y="494659"/>
                    <a:pt x="0" y="484139"/>
                  </a:cubicBezTo>
                  <a:lnTo>
                    <a:pt x="0" y="19047"/>
                  </a:lnTo>
                  <a:cubicBezTo>
                    <a:pt x="0" y="8528"/>
                    <a:pt x="8528" y="0"/>
                    <a:pt x="19047" y="0"/>
                  </a:cubicBezTo>
                  <a:close/>
                </a:path>
              </a:pathLst>
            </a:custGeom>
            <a:grpFill/>
            <a:ln w="38100" cap="sq">
              <a:solidFill>
                <a:srgbClr val="547D39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1031" cy="55081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4799" y="-69122"/>
            <a:ext cx="12030009" cy="10274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1. Microservices-Based Placement Management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Instead of developing one large application, placement functionalities are divided into independent services.</a:t>
            </a:r>
          </a:p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2. Centralized API Gateway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All client requests are handled through </a:t>
            </a: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Spring Cloud Gateway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, providing a single entry point to the backend services.</a:t>
            </a:r>
          </a:p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3. Service Discovery</a:t>
            </a:r>
          </a:p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Eureka Service Discovery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 allows microservices to register and discover one another dynamically.</a:t>
            </a:r>
          </a:p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4. Role-Based Placement Workflow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Students, recruiters, and administrators receive different functionalities based on their roles using JWT authentication and Spring Security.</a:t>
            </a:r>
          </a:p>
          <a:p>
            <a:pPr algn="just">
              <a:lnSpc>
                <a:spcPct val="150000"/>
              </a:lnSpc>
            </a:pPr>
            <a:endParaRPr lang="en-IN" sz="2800" dirty="0">
              <a:solidFill>
                <a:srgbClr val="70170A"/>
              </a:solidFill>
              <a:latin typeface="Saira ExtraCondensed SemiBold"/>
            </a:endParaRPr>
          </a:p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Overall Novelty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The system transforms traditional placement management into a secure, modular, scalable, and service-oriented digital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28600" y="221985"/>
            <a:ext cx="3000831" cy="3000831"/>
          </a:xfrm>
          <a:custGeom>
            <a:avLst/>
            <a:gdLst/>
            <a:ahLst/>
            <a:cxnLst/>
            <a:rect l="l" t="t" r="r" b="b"/>
            <a:pathLst>
              <a:path w="3000831" h="3000831">
                <a:moveTo>
                  <a:pt x="0" y="0"/>
                </a:moveTo>
                <a:lnTo>
                  <a:pt x="3000831" y="0"/>
                </a:lnTo>
                <a:lnTo>
                  <a:pt x="3000831" y="3000831"/>
                </a:lnTo>
                <a:lnTo>
                  <a:pt x="0" y="3000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82800" y="221985"/>
            <a:ext cx="2918990" cy="3000831"/>
          </a:xfrm>
          <a:custGeom>
            <a:avLst/>
            <a:gdLst/>
            <a:ahLst/>
            <a:cxnLst/>
            <a:rect l="l" t="t" r="r" b="b"/>
            <a:pathLst>
              <a:path w="2918990" h="3000831">
                <a:moveTo>
                  <a:pt x="0" y="0"/>
                </a:moveTo>
                <a:lnTo>
                  <a:pt x="2918990" y="0"/>
                </a:lnTo>
                <a:lnTo>
                  <a:pt x="2918990" y="3000831"/>
                </a:lnTo>
                <a:lnTo>
                  <a:pt x="0" y="3000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31764"/>
            <a:ext cx="16230600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TECHNOLOGY STACK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B2FC7C5-B380-0B1E-3561-F6472B66E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15517"/>
              </p:ext>
            </p:extLst>
          </p:nvPr>
        </p:nvGraphicFramePr>
        <p:xfrm>
          <a:off x="2705100" y="3246129"/>
          <a:ext cx="12877800" cy="68188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63900">
                  <a:extLst>
                    <a:ext uri="{9D8B030D-6E8A-4147-A177-3AD203B41FA5}">
                      <a16:colId xmlns:a16="http://schemas.microsoft.com/office/drawing/2014/main" val="4271064050"/>
                    </a:ext>
                  </a:extLst>
                </a:gridCol>
                <a:gridCol w="3670300">
                  <a:extLst>
                    <a:ext uri="{9D8B030D-6E8A-4147-A177-3AD203B41FA5}">
                      <a16:colId xmlns:a16="http://schemas.microsoft.com/office/drawing/2014/main" val="3326375853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1740935276"/>
                    </a:ext>
                  </a:extLst>
                </a:gridCol>
              </a:tblGrid>
              <a:tr h="351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Layer</a:t>
                      </a:r>
                      <a:endParaRPr lang="en-IN" sz="2400" b="1" dirty="0">
                        <a:solidFill>
                          <a:schemeClr val="bg2"/>
                        </a:solidFill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7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Technology</a:t>
                      </a:r>
                      <a:endParaRPr lang="en-IN" sz="2400" b="1" dirty="0">
                        <a:solidFill>
                          <a:schemeClr val="bg2"/>
                        </a:solidFill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7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bg2"/>
                          </a:solidFill>
                        </a:rPr>
                        <a:t>Purpose</a:t>
                      </a:r>
                      <a:endParaRPr lang="en-IN" sz="2400" b="1" dirty="0">
                        <a:solidFill>
                          <a:schemeClr val="bg2"/>
                        </a:solidFill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7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68826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Frontend</a:t>
                      </a:r>
                      <a:endParaRPr lang="en-IN" sz="2400" b="1" dirty="0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React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User interface for students, recruiters and admins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404442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Backend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Spring Boot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Development of microservices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095271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Microservices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Spring Cloud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Microservices infrastructure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513615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Security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Spring Security + JWT</a:t>
                      </a:r>
                      <a:endParaRPr lang="en-IN" sz="2400" b="1" dirty="0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Authentication and authorization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336006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Service Discovery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Eureka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Service registration and discovery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363781"/>
                  </a:ext>
                </a:extLst>
              </a:tr>
              <a:tr h="351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API Gateway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Spring Cloud Gateway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Centralized API routing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12797"/>
                  </a:ext>
                </a:extLst>
              </a:tr>
              <a:tr h="351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Database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PostgreSQL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Data storage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982201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APIs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REST APIs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Communication between services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630937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Containerization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Docker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Application containerization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079253"/>
                  </a:ext>
                </a:extLst>
              </a:tr>
              <a:tr h="351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Testing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Postman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REST API testing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274210"/>
                  </a:ext>
                </a:extLst>
              </a:tr>
              <a:tr h="61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CI/CD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GitHub Actions</a:t>
                      </a:r>
                      <a:endParaRPr lang="en-IN" sz="2400" b="1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Automated build and deployment</a:t>
                      </a:r>
                      <a:endParaRPr lang="en-IN" sz="2400" b="1" dirty="0">
                        <a:latin typeface="Saira ExtraCondensed SemiBold"/>
                      </a:endParaRPr>
                    </a:p>
                  </a:txBody>
                  <a:tcPr marL="62861" marR="62861" marT="31430" marB="31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0719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702656" y="2185305"/>
            <a:ext cx="5490891" cy="5603785"/>
          </a:xfrm>
          <a:custGeom>
            <a:avLst/>
            <a:gdLst/>
            <a:ahLst/>
            <a:cxnLst/>
            <a:rect l="l" t="t" r="r" b="b"/>
            <a:pathLst>
              <a:path w="5490891" h="5603785">
                <a:moveTo>
                  <a:pt x="0" y="0"/>
                </a:moveTo>
                <a:lnTo>
                  <a:pt x="5490890" y="0"/>
                </a:lnTo>
                <a:lnTo>
                  <a:pt x="5490890" y="5603784"/>
                </a:lnTo>
                <a:lnTo>
                  <a:pt x="0" y="560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8809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6398555" y="2069335"/>
            <a:ext cx="5490891" cy="5603785"/>
          </a:xfrm>
          <a:custGeom>
            <a:avLst/>
            <a:gdLst/>
            <a:ahLst/>
            <a:cxnLst/>
            <a:rect l="l" t="t" r="r" b="b"/>
            <a:pathLst>
              <a:path w="5490891" h="5603785">
                <a:moveTo>
                  <a:pt x="0" y="0"/>
                </a:moveTo>
                <a:lnTo>
                  <a:pt x="5490890" y="0"/>
                </a:lnTo>
                <a:lnTo>
                  <a:pt x="5490890" y="5603784"/>
                </a:lnTo>
                <a:lnTo>
                  <a:pt x="0" y="560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880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46697" y="2176181"/>
            <a:ext cx="5490891" cy="5603785"/>
          </a:xfrm>
          <a:custGeom>
            <a:avLst/>
            <a:gdLst/>
            <a:ahLst/>
            <a:cxnLst/>
            <a:rect l="l" t="t" r="r" b="b"/>
            <a:pathLst>
              <a:path w="5490891" h="5603785">
                <a:moveTo>
                  <a:pt x="0" y="0"/>
                </a:moveTo>
                <a:lnTo>
                  <a:pt x="5490890" y="0"/>
                </a:lnTo>
                <a:lnTo>
                  <a:pt x="5490890" y="5603784"/>
                </a:lnTo>
                <a:lnTo>
                  <a:pt x="0" y="560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880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2656" y="7624230"/>
            <a:ext cx="5490891" cy="1655705"/>
          </a:xfrm>
          <a:custGeom>
            <a:avLst/>
            <a:gdLst/>
            <a:ahLst/>
            <a:cxnLst/>
            <a:rect l="l" t="t" r="r" b="b"/>
            <a:pathLst>
              <a:path w="5490891" h="1655705">
                <a:moveTo>
                  <a:pt x="0" y="0"/>
                </a:moveTo>
                <a:lnTo>
                  <a:pt x="5490890" y="0"/>
                </a:lnTo>
                <a:lnTo>
                  <a:pt x="5490890" y="1655705"/>
                </a:lnTo>
                <a:lnTo>
                  <a:pt x="0" y="1655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33793" b="-3447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98555" y="7602595"/>
            <a:ext cx="5490891" cy="1655705"/>
          </a:xfrm>
          <a:custGeom>
            <a:avLst/>
            <a:gdLst/>
            <a:ahLst/>
            <a:cxnLst/>
            <a:rect l="l" t="t" r="r" b="b"/>
            <a:pathLst>
              <a:path w="5490891" h="1655705">
                <a:moveTo>
                  <a:pt x="0" y="0"/>
                </a:moveTo>
                <a:lnTo>
                  <a:pt x="5490890" y="0"/>
                </a:lnTo>
                <a:lnTo>
                  <a:pt x="5490890" y="1655705"/>
                </a:lnTo>
                <a:lnTo>
                  <a:pt x="0" y="1655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33793" b="-3447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094454" y="7580960"/>
            <a:ext cx="5490891" cy="1655705"/>
          </a:xfrm>
          <a:custGeom>
            <a:avLst/>
            <a:gdLst/>
            <a:ahLst/>
            <a:cxnLst/>
            <a:rect l="l" t="t" r="r" b="b"/>
            <a:pathLst>
              <a:path w="5490891" h="1655705">
                <a:moveTo>
                  <a:pt x="0" y="0"/>
                </a:moveTo>
                <a:lnTo>
                  <a:pt x="5490890" y="0"/>
                </a:lnTo>
                <a:lnTo>
                  <a:pt x="5490890" y="1655705"/>
                </a:lnTo>
                <a:lnTo>
                  <a:pt x="0" y="1655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33793" b="-3447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02656" y="580086"/>
            <a:ext cx="2345143" cy="1795100"/>
          </a:xfrm>
          <a:custGeom>
            <a:avLst/>
            <a:gdLst/>
            <a:ahLst/>
            <a:cxnLst/>
            <a:rect l="l" t="t" r="r" b="b"/>
            <a:pathLst>
              <a:path w="2345143" h="1795100">
                <a:moveTo>
                  <a:pt x="0" y="0"/>
                </a:moveTo>
                <a:lnTo>
                  <a:pt x="2345142" y="0"/>
                </a:lnTo>
                <a:lnTo>
                  <a:pt x="2345142" y="1795100"/>
                </a:lnTo>
                <a:lnTo>
                  <a:pt x="0" y="1795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44464" y="-126643"/>
            <a:ext cx="15201264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1000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INNOVATION AND CREATIVITY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1319" y="2890591"/>
            <a:ext cx="389356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MODULAR </a:t>
            </a:r>
            <a:br>
              <a:rPr lang="en-US" sz="48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</a:br>
            <a:r>
              <a:rPr lang="en-US" sz="48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97218" y="2930965"/>
            <a:ext cx="389356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AUTOMATED APPLICATION TRACKING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2164" y="3004645"/>
            <a:ext cx="3893564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5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ROLE - BASED </a:t>
            </a:r>
          </a:p>
          <a:p>
            <a:pPr algn="ctr">
              <a:spcBef>
                <a:spcPct val="0"/>
              </a:spcBef>
            </a:pPr>
            <a:r>
              <a:rPr lang="en-US" sz="45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ACCESS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3824" y="4331402"/>
            <a:ext cx="3893563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rgbClr val="70170A"/>
                </a:solidFill>
              </a:rPr>
              <a:t>Existing:</a:t>
            </a:r>
            <a:r>
              <a:rPr lang="en-IN" sz="2800" dirty="0">
                <a:solidFill>
                  <a:srgbClr val="70170A"/>
                </a:solidFill>
              </a:rPr>
              <a:t> Traditional placement systems may use a single application.</a:t>
            </a:r>
          </a:p>
          <a:p>
            <a:r>
              <a:rPr lang="en-IN" sz="2800" b="1" dirty="0">
                <a:solidFill>
                  <a:srgbClr val="70170A"/>
                </a:solidFill>
              </a:rPr>
              <a:t>Our Approach:</a:t>
            </a:r>
            <a:r>
              <a:rPr lang="en-IN" sz="2800" dirty="0">
                <a:solidFill>
                  <a:srgbClr val="70170A"/>
                </a:solidFill>
              </a:rPr>
              <a:t> Separate services for students, jobs, applications, and notifications.</a:t>
            </a:r>
          </a:p>
          <a:p>
            <a:r>
              <a:rPr lang="en-IN" sz="2800" b="1" dirty="0">
                <a:solidFill>
                  <a:srgbClr val="70170A"/>
                </a:solidFill>
              </a:rPr>
              <a:t>Benefit:</a:t>
            </a:r>
            <a:r>
              <a:rPr lang="en-IN" sz="2800" dirty="0">
                <a:solidFill>
                  <a:srgbClr val="70170A"/>
                </a:solidFill>
              </a:rPr>
              <a:t> Better scalability and maintainability.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12781" y="4232335"/>
            <a:ext cx="4063379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Existing: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 Students may need to manually check recruitment updates.</a:t>
            </a:r>
          </a:p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Our Approach: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 Application status is maintained throughout the recruitment process.</a:t>
            </a:r>
          </a:p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Benefit: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 Improves transparency and reduces manual communication.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22487" y="4240525"/>
            <a:ext cx="387099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Existing: 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Common access mechanisms may provide limited separation.</a:t>
            </a:r>
          </a:p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Our Approach: 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Separate permissions for students, recruiters, and administrators.</a:t>
            </a:r>
          </a:p>
          <a:p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Benefit: 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Improves security and protects sensitive information.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15240202" y="580086"/>
            <a:ext cx="2345143" cy="1795100"/>
          </a:xfrm>
          <a:custGeom>
            <a:avLst/>
            <a:gdLst/>
            <a:ahLst/>
            <a:cxnLst/>
            <a:rect l="l" t="t" r="r" b="b"/>
            <a:pathLst>
              <a:path w="2345143" h="1795100">
                <a:moveTo>
                  <a:pt x="2345142" y="0"/>
                </a:moveTo>
                <a:lnTo>
                  <a:pt x="0" y="0"/>
                </a:lnTo>
                <a:lnTo>
                  <a:pt x="0" y="1795100"/>
                </a:lnTo>
                <a:lnTo>
                  <a:pt x="2345142" y="1795100"/>
                </a:lnTo>
                <a:lnTo>
                  <a:pt x="2345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75588" y="8479882"/>
            <a:ext cx="19640116" cy="2073818"/>
            <a:chOff x="0" y="0"/>
            <a:chExt cx="5172706" cy="4664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72706" cy="466450"/>
            </a:xfrm>
            <a:custGeom>
              <a:avLst/>
              <a:gdLst/>
              <a:ahLst/>
              <a:cxnLst/>
              <a:rect l="l" t="t" r="r" b="b"/>
              <a:pathLst>
                <a:path w="5172706" h="466450">
                  <a:moveTo>
                    <a:pt x="0" y="0"/>
                  </a:moveTo>
                  <a:lnTo>
                    <a:pt x="5172706" y="0"/>
                  </a:lnTo>
                  <a:lnTo>
                    <a:pt x="5172706" y="466450"/>
                  </a:lnTo>
                  <a:lnTo>
                    <a:pt x="0" y="466450"/>
                  </a:lnTo>
                  <a:close/>
                </a:path>
              </a:pathLst>
            </a:custGeom>
            <a:solidFill>
              <a:srgbClr val="547D3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72706" cy="51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48C1FE5-16A7-8B50-8B08-4ED22EA4549E}"/>
              </a:ext>
            </a:extLst>
          </p:cNvPr>
          <p:cNvSpPr txBox="1"/>
          <p:nvPr/>
        </p:nvSpPr>
        <p:spPr>
          <a:xfrm>
            <a:off x="3015142" y="8549397"/>
            <a:ext cx="168349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2"/>
                </a:solidFill>
                <a:latin typeface="Saira ExtraCondensed SemiBold"/>
              </a:rPr>
              <a:t>4. Service Discovery and API Gateway</a:t>
            </a:r>
          </a:p>
          <a:p>
            <a:pPr>
              <a:buNone/>
            </a:pPr>
            <a:r>
              <a:rPr lang="en-IN" sz="2800" b="1" dirty="0">
                <a:solidFill>
                  <a:schemeClr val="bg2"/>
                </a:solidFill>
                <a:latin typeface="Saira ExtraCondensed SemiBold"/>
              </a:rPr>
              <a:t>Existing:</a:t>
            </a:r>
            <a:r>
              <a:rPr lang="en-IN" sz="2800" dirty="0">
                <a:solidFill>
                  <a:schemeClr val="bg2"/>
                </a:solidFill>
                <a:latin typeface="Saira ExtraCondensed SemiBold"/>
              </a:rPr>
              <a:t> Direct communication between multiple components can become difficult to manage.</a:t>
            </a:r>
          </a:p>
          <a:p>
            <a:pPr>
              <a:buNone/>
            </a:pPr>
            <a:r>
              <a:rPr lang="en-IN" sz="2800" b="1" dirty="0">
                <a:solidFill>
                  <a:schemeClr val="bg2"/>
                </a:solidFill>
                <a:latin typeface="Saira ExtraCondensed SemiBold"/>
              </a:rPr>
              <a:t>Our Approach:</a:t>
            </a:r>
            <a:r>
              <a:rPr lang="en-IN" sz="2800" dirty="0">
                <a:solidFill>
                  <a:schemeClr val="bg2"/>
                </a:solidFill>
                <a:latin typeface="Saira ExtraCondensed SemiBold"/>
              </a:rPr>
              <a:t> Eureka handles service discovery and Spring Cloud Gateway manages routing.</a:t>
            </a:r>
          </a:p>
          <a:p>
            <a:pPr>
              <a:buNone/>
            </a:pPr>
            <a:r>
              <a:rPr lang="en-IN" sz="2800" b="1" dirty="0">
                <a:solidFill>
                  <a:schemeClr val="bg2"/>
                </a:solidFill>
                <a:latin typeface="Saira ExtraCondensed SemiBold"/>
              </a:rPr>
              <a:t>Benefit:</a:t>
            </a:r>
            <a:r>
              <a:rPr lang="en-IN" sz="2800" dirty="0">
                <a:solidFill>
                  <a:schemeClr val="bg2"/>
                </a:solidFill>
                <a:latin typeface="Saira ExtraCondensed SemiBold"/>
              </a:rPr>
              <a:t> Provides a structured and scalable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812971" y="1428941"/>
            <a:ext cx="8674352" cy="13025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>
            <a:off x="5812971" y="161009"/>
            <a:ext cx="8674352" cy="13025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6705600" y="32657"/>
            <a:ext cx="6711450" cy="1471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FEASIBILITY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191FB4-31E7-65C4-E395-CC93D47C245F}"/>
              </a:ext>
            </a:extLst>
          </p:cNvPr>
          <p:cNvSpPr txBox="1"/>
          <p:nvPr/>
        </p:nvSpPr>
        <p:spPr>
          <a:xfrm>
            <a:off x="609600" y="1613607"/>
            <a:ext cx="17983200" cy="842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1. Technical Feasibility</a:t>
            </a:r>
          </a:p>
          <a:p>
            <a:pPr>
              <a:lnSpc>
                <a:spcPct val="150000"/>
              </a:lnSpc>
              <a:buNone/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The system can be implemented using existing technologies such as </a:t>
            </a: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Spring Boot, Spring Cloud, React, PostgreSQL, JWT, Eureka, and REST APIs</a:t>
            </a: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2. Economic Feasibility</a:t>
            </a:r>
          </a:p>
          <a:p>
            <a:pPr>
              <a:lnSpc>
                <a:spcPct val="150000"/>
              </a:lnSpc>
              <a:buNone/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The project can be developed using open-source frameworks and development tools, reducing development costs.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3. Operational Feasibility</a:t>
            </a:r>
          </a:p>
          <a:p>
            <a:pPr>
              <a:lnSpc>
                <a:spcPct val="150000"/>
              </a:lnSpc>
              <a:buNone/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The system provides a simple workflow: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Student → Profile → Job Search → Eligibility → Application → Interview → Selection</a:t>
            </a:r>
            <a:endParaRPr lang="en-IN" sz="2800" dirty="0">
              <a:solidFill>
                <a:srgbClr val="70170A"/>
              </a:solidFill>
              <a:latin typeface="Saira ExtraCondensed SemiBold"/>
            </a:endParaRPr>
          </a:p>
          <a:p>
            <a:pPr>
              <a:lnSpc>
                <a:spcPct val="150000"/>
              </a:lnSpc>
              <a:buNone/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Recruiters can manage: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Company → Job Posting → Applications → Shortlisting → Interview → Selection</a:t>
            </a:r>
            <a:endParaRPr lang="en-IN" sz="2800" dirty="0">
              <a:solidFill>
                <a:srgbClr val="70170A"/>
              </a:solidFill>
              <a:latin typeface="Saira ExtraCondensed SemiBold"/>
            </a:endParaRP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4. Integration Feasibility</a:t>
            </a:r>
          </a:p>
          <a:p>
            <a:pPr>
              <a:lnSpc>
                <a:spcPct val="150000"/>
              </a:lnSpc>
              <a:buNone/>
            </a:pPr>
            <a:r>
              <a:rPr lang="en-IN" sz="2800" dirty="0">
                <a:solidFill>
                  <a:srgbClr val="70170A"/>
                </a:solidFill>
                <a:latin typeface="Saira ExtraCondensed SemiBold"/>
              </a:rPr>
              <a:t>Different components can communicate through REST APIs: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170A"/>
                </a:solidFill>
                <a:latin typeface="Saira ExtraCondensed SemiBold"/>
              </a:rPr>
              <a:t>Frontend ↔ API Gateway ↔ Microservices ↔ Databases</a:t>
            </a:r>
            <a:endParaRPr lang="en-IN" sz="2800" dirty="0">
              <a:solidFill>
                <a:srgbClr val="70170A"/>
              </a:solidFill>
              <a:latin typeface="Saira ExtraCondensed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6800" y="5443"/>
            <a:ext cx="9635617" cy="158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0300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PROJECT ARCHITECTURE</a:t>
            </a:r>
          </a:p>
        </p:txBody>
      </p:sp>
      <p:sp>
        <p:nvSpPr>
          <p:cNvPr id="4" name="AutoShape 4"/>
          <p:cNvSpPr/>
          <p:nvPr/>
        </p:nvSpPr>
        <p:spPr>
          <a:xfrm>
            <a:off x="4981333" y="1409700"/>
            <a:ext cx="9426550" cy="0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10591800" y="1829032"/>
            <a:ext cx="8866132" cy="704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Major Services:</a:t>
            </a:r>
            <a:endParaRPr lang="en-IN" sz="2800" dirty="0">
              <a:solidFill>
                <a:srgbClr val="547D39"/>
              </a:solidFill>
              <a:latin typeface="Saira ExtraCondensed SemiBold"/>
            </a:endParaRPr>
          </a:p>
          <a:p>
            <a:pPr lvl="0">
              <a:lnSpc>
                <a:spcPct val="150000"/>
              </a:lnSpc>
            </a:pP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Student Service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Company &amp; Job Service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Application Service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Notification Service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Authentication &amp; Authorization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Security:</a:t>
            </a: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 JWT + Spring Security</a:t>
            </a:r>
            <a:br>
              <a:rPr lang="en-IN" sz="2800" dirty="0">
                <a:solidFill>
                  <a:srgbClr val="547D39"/>
                </a:solidFill>
                <a:latin typeface="Saira ExtraCondensed SemiBold"/>
              </a:rPr>
            </a:b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Communication:</a:t>
            </a: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 REST APIs</a:t>
            </a:r>
            <a:br>
              <a:rPr lang="en-IN" sz="2800" dirty="0">
                <a:solidFill>
                  <a:srgbClr val="547D39"/>
                </a:solidFill>
                <a:latin typeface="Saira ExtraCondensed SemiBold"/>
              </a:rPr>
            </a:b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Routing:</a:t>
            </a: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 Spring Cloud Gateway</a:t>
            </a:r>
            <a:br>
              <a:rPr lang="en-IN" sz="2800" dirty="0">
                <a:solidFill>
                  <a:srgbClr val="547D39"/>
                </a:solidFill>
                <a:latin typeface="Saira ExtraCondensed SemiBold"/>
              </a:rPr>
            </a:b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Discovery:</a:t>
            </a: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 Eureka</a:t>
            </a:r>
            <a:br>
              <a:rPr lang="en-IN" sz="2800" dirty="0">
                <a:solidFill>
                  <a:srgbClr val="547D39"/>
                </a:solidFill>
                <a:latin typeface="Saira ExtraCondensed SemiBold"/>
              </a:rPr>
            </a:br>
            <a:r>
              <a:rPr lang="en-IN" sz="2800" b="1" dirty="0">
                <a:solidFill>
                  <a:srgbClr val="547D39"/>
                </a:solidFill>
                <a:latin typeface="Saira ExtraCondensed SemiBold"/>
              </a:rPr>
              <a:t>Database:</a:t>
            </a:r>
            <a:r>
              <a:rPr lang="en-IN" sz="2800" dirty="0">
                <a:solidFill>
                  <a:srgbClr val="547D39"/>
                </a:solidFill>
                <a:latin typeface="Saira ExtraCondensed SemiBold"/>
              </a:rPr>
              <a:t> PostgreSQL — Database per Service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A97538-F707-7B8C-4F47-90B4215D0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8" t="13573" r="10417" b="2344"/>
          <a:stretch>
            <a:fillRect/>
          </a:stretch>
        </p:blipFill>
        <p:spPr>
          <a:xfrm>
            <a:off x="0" y="1927914"/>
            <a:ext cx="9154724" cy="71398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8F022B-1574-FE43-B566-259FAD5B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16" y="8516391"/>
            <a:ext cx="1450979" cy="11027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8712" y="-671200"/>
            <a:ext cx="4337712" cy="11629399"/>
            <a:chOff x="0" y="0"/>
            <a:chExt cx="854162" cy="3062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162" cy="3062887"/>
            </a:xfrm>
            <a:custGeom>
              <a:avLst/>
              <a:gdLst/>
              <a:ahLst/>
              <a:cxnLst/>
              <a:rect l="l" t="t" r="r" b="b"/>
              <a:pathLst>
                <a:path w="854162" h="3062887">
                  <a:moveTo>
                    <a:pt x="0" y="0"/>
                  </a:moveTo>
                  <a:lnTo>
                    <a:pt x="854162" y="0"/>
                  </a:lnTo>
                  <a:lnTo>
                    <a:pt x="854162" y="3062887"/>
                  </a:lnTo>
                  <a:lnTo>
                    <a:pt x="0" y="3062887"/>
                  </a:lnTo>
                  <a:close/>
                </a:path>
              </a:pathLst>
            </a:custGeom>
            <a:solidFill>
              <a:srgbClr val="70170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54162" cy="3110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986428" y="415082"/>
            <a:ext cx="8353264" cy="9276008"/>
          </a:xfrm>
          <a:custGeom>
            <a:avLst/>
            <a:gdLst/>
            <a:ahLst/>
            <a:cxnLst/>
            <a:rect l="l" t="t" r="r" b="b"/>
            <a:pathLst>
              <a:path w="8353264" h="9276008">
                <a:moveTo>
                  <a:pt x="0" y="0"/>
                </a:moveTo>
                <a:lnTo>
                  <a:pt x="8353264" y="0"/>
                </a:lnTo>
                <a:lnTo>
                  <a:pt x="8353264" y="9276008"/>
                </a:lnTo>
                <a:lnTo>
                  <a:pt x="0" y="9276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-1123617" y="351027"/>
            <a:ext cx="6012550" cy="9404117"/>
            <a:chOff x="0" y="-47625"/>
            <a:chExt cx="660400" cy="1032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985294"/>
            </a:xfrm>
            <a:custGeom>
              <a:avLst/>
              <a:gdLst/>
              <a:ahLst/>
              <a:cxnLst/>
              <a:rect l="l" t="t" r="r" b="b"/>
              <a:pathLst>
                <a:path w="660400" h="985294">
                  <a:moveTo>
                    <a:pt x="220252" y="966225"/>
                  </a:moveTo>
                  <a:cubicBezTo>
                    <a:pt x="254109" y="977739"/>
                    <a:pt x="292600" y="985294"/>
                    <a:pt x="330378" y="985294"/>
                  </a:cubicBezTo>
                  <a:cubicBezTo>
                    <a:pt x="368157" y="985294"/>
                    <a:pt x="404509" y="978817"/>
                    <a:pt x="438009" y="967304"/>
                  </a:cubicBezTo>
                  <a:cubicBezTo>
                    <a:pt x="438723" y="966944"/>
                    <a:pt x="439435" y="966944"/>
                    <a:pt x="440148" y="966585"/>
                  </a:cubicBezTo>
                  <a:cubicBezTo>
                    <a:pt x="565955" y="920529"/>
                    <a:pt x="658618" y="798916"/>
                    <a:pt x="660400" y="6529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52476"/>
                  </a:lnTo>
                  <a:cubicBezTo>
                    <a:pt x="1782" y="799634"/>
                    <a:pt x="93019" y="921250"/>
                    <a:pt x="220252" y="966225"/>
                  </a:cubicBezTo>
                  <a:close/>
                </a:path>
              </a:pathLst>
            </a:custGeom>
            <a:solidFill>
              <a:srgbClr val="FDDEA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905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828208" y="3771900"/>
            <a:ext cx="10287000" cy="3345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50"/>
              </a:lnSpc>
              <a:spcBef>
                <a:spcPct val="0"/>
              </a:spcBef>
            </a:pPr>
            <a:r>
              <a:rPr lang="en-US" sz="22200" b="1" dirty="0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THANK YOU</a:t>
            </a:r>
          </a:p>
        </p:txBody>
      </p:sp>
      <p:sp>
        <p:nvSpPr>
          <p:cNvPr id="21" name="Freeform 15">
            <a:extLst>
              <a:ext uri="{FF2B5EF4-FFF2-40B4-BE49-F238E27FC236}">
                <a16:creationId xmlns:a16="http://schemas.microsoft.com/office/drawing/2014/main" id="{759C6DB6-A073-3E47-F81B-BB0382F1600C}"/>
              </a:ext>
            </a:extLst>
          </p:cNvPr>
          <p:cNvSpPr/>
          <p:nvPr/>
        </p:nvSpPr>
        <p:spPr>
          <a:xfrm>
            <a:off x="0" y="2517390"/>
            <a:ext cx="4865004" cy="4865004"/>
          </a:xfrm>
          <a:custGeom>
            <a:avLst/>
            <a:gdLst/>
            <a:ahLst/>
            <a:cxnLst/>
            <a:rect l="l" t="t" r="r" b="b"/>
            <a:pathLst>
              <a:path w="4865004" h="4865004">
                <a:moveTo>
                  <a:pt x="0" y="0"/>
                </a:moveTo>
                <a:lnTo>
                  <a:pt x="4865004" y="0"/>
                </a:lnTo>
                <a:lnTo>
                  <a:pt x="4865004" y="4865004"/>
                </a:lnTo>
                <a:lnTo>
                  <a:pt x="0" y="4865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970</Words>
  <Application>Microsoft Office PowerPoint</Application>
  <PresentationFormat>Custom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Saira ExtraCondensed Bold</vt:lpstr>
      <vt:lpstr>Saira ExtraCondensed Semi-Bold</vt:lpstr>
      <vt:lpstr>Calibri</vt:lpstr>
      <vt:lpstr>Saira ExtraCondensed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Red Minimalist Job Search Strategy Presentation</dc:title>
  <cp:lastModifiedBy>Kundana Mani B</cp:lastModifiedBy>
  <cp:revision>3</cp:revision>
  <dcterms:created xsi:type="dcterms:W3CDTF">2006-08-16T00:00:00Z</dcterms:created>
  <dcterms:modified xsi:type="dcterms:W3CDTF">2026-08-27T04:56:06Z</dcterms:modified>
  <dc:identifier>DAHTYIeTVOQ</dc:identifier>
</cp:coreProperties>
</file>