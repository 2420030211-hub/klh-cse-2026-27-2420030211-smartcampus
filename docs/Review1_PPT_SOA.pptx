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5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904" r:id="rId10"/>
    <p:sldId id="905" r:id="rId11"/>
    <p:sldId id="260" r:id="rId12"/>
    <p:sldId id="906" r:id="rId13"/>
    <p:sldId id="90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7EC"/>
    <a:srgbClr val="EFE9E4"/>
    <a:srgbClr val="70170A"/>
    <a:srgbClr val="3673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98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27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27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27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27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27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27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27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27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27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27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27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27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27th August 2026</a:t>
            </a:r>
            <a:r>
              <a:rPr lang="en-IN" sz="20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en-I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8701911"/>
              </p:ext>
            </p:extLst>
          </p:nvPr>
        </p:nvGraphicFramePr>
        <p:xfrm>
          <a:off x="9062895" y="4819510"/>
          <a:ext cx="3702050" cy="1798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16004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Name: B. Kundana Mani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Roll Number: 2420030558</a:t>
                      </a:r>
                      <a:b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</a:br>
                      <a:endParaRPr lang="en-IN" sz="16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Name: M. Sai Kridhay Kumar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Roll Number: 2420030211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906812" y="4599367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484921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Mrs. R. </a:t>
                      </a: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Navyatha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7017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966093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Campus: Placement Management System</a:t>
            </a:r>
            <a:endParaRPr lang="en-US" sz="9600" b="1" dirty="0">
              <a:solidFill>
                <a:schemeClr val="bg1"/>
              </a:solidFill>
              <a:latin typeface="Times New Roman" panose="02020603050405020304" pitchFamily="18" charset="0"/>
              <a:ea typeface="Saira ExtraCondensed Bold"/>
              <a:cs typeface="Times New Roman" panose="02020603050405020304" pitchFamily="18" charset="0"/>
              <a:sym typeface="Saira ExtraCondensed 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0FA667-BF19-7175-EEB0-629E3F82A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7916" y="8516391"/>
            <a:ext cx="1450979" cy="110274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1ABFDF9-2FF4-E03C-BC96-E76EEE60EB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1225" y="-18632"/>
            <a:ext cx="1365173" cy="6842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2955671" y="192586"/>
            <a:ext cx="5854242" cy="646331"/>
          </a:xfrm>
          <a:prstGeom prst="rect">
            <a:avLst/>
          </a:prstGeom>
          <a:solidFill>
            <a:srgbClr val="FFF7EC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867262" y="1368625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94FCF96-6FA7-C42B-7959-F31239CA330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1225" y="-18632"/>
            <a:ext cx="1365173" cy="6842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2641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2028FC-FD88-7BA0-3EE5-DD969398BE6C}"/>
              </a:ext>
            </a:extLst>
          </p:cNvPr>
          <p:cNvSpPr txBox="1"/>
          <p:nvPr/>
        </p:nvSpPr>
        <p:spPr>
          <a:xfrm>
            <a:off x="261258" y="1237420"/>
            <a:ext cx="10439400" cy="5028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b="1" dirty="0">
                <a:solidFill>
                  <a:srgbClr val="3673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campus placement processes often involve managing student information, company details, job opportunities, eligibility criteria, applications, interviews, and selection results through separate or manual processes.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solidFill>
                  <a:srgbClr val="7017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can lead to: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7017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maintaining student and recruiter information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7017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application management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7017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Lack of centralized placement information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7017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Difficulty tracking application and interview status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7017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communication between students and recruiters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7017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transparency in the recruitment process 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solidFill>
                  <a:srgbClr val="3673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there is a need for a centralized, secure, and scalable placement management system that can efficiently connect students, recruiters, and administrators.</a:t>
            </a: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E5722F4C-E11D-2F9A-DEBC-27C3D972D4E3}"/>
              </a:ext>
            </a:extLst>
          </p:cNvPr>
          <p:cNvSpPr/>
          <p:nvPr/>
        </p:nvSpPr>
        <p:spPr>
          <a:xfrm flipH="1">
            <a:off x="8564576" y="2301359"/>
            <a:ext cx="2656114" cy="2542784"/>
          </a:xfrm>
          <a:custGeom>
            <a:avLst/>
            <a:gdLst/>
            <a:ahLst/>
            <a:cxnLst/>
            <a:rect l="l" t="t" r="r" b="b"/>
            <a:pathLst>
              <a:path w="4872716" h="4817898">
                <a:moveTo>
                  <a:pt x="4872716" y="0"/>
                </a:moveTo>
                <a:lnTo>
                  <a:pt x="0" y="0"/>
                </a:lnTo>
                <a:lnTo>
                  <a:pt x="0" y="4817898"/>
                </a:lnTo>
                <a:lnTo>
                  <a:pt x="4872716" y="4817898"/>
                </a:lnTo>
                <a:lnTo>
                  <a:pt x="48727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1404AA76-1644-2225-2C02-0D6E5BB9C3C2}"/>
              </a:ext>
            </a:extLst>
          </p:cNvPr>
          <p:cNvSpPr/>
          <p:nvPr/>
        </p:nvSpPr>
        <p:spPr>
          <a:xfrm>
            <a:off x="8180462" y="2301359"/>
            <a:ext cx="1083282" cy="1314175"/>
          </a:xfrm>
          <a:custGeom>
            <a:avLst/>
            <a:gdLst/>
            <a:ahLst/>
            <a:cxnLst/>
            <a:rect l="l" t="t" r="r" b="b"/>
            <a:pathLst>
              <a:path w="2066435" h="2066435">
                <a:moveTo>
                  <a:pt x="0" y="0"/>
                </a:moveTo>
                <a:lnTo>
                  <a:pt x="2066435" y="0"/>
                </a:lnTo>
                <a:lnTo>
                  <a:pt x="2066435" y="2066434"/>
                </a:lnTo>
                <a:lnTo>
                  <a:pt x="0" y="20664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02AEF95-C75F-E869-BCFD-C9F49E9154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1225" y="-18632"/>
            <a:ext cx="1365173" cy="6842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29938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9007CA-9EC8-AC80-A3A0-7569011CC03C}"/>
              </a:ext>
            </a:extLst>
          </p:cNvPr>
          <p:cNvSpPr txBox="1"/>
          <p:nvPr/>
        </p:nvSpPr>
        <p:spPr>
          <a:xfrm>
            <a:off x="269662" y="981640"/>
            <a:ext cx="9222681" cy="5576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7017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centralized platform for managing campus placement activities.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7017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 microservices-based architecture for independent and scalable services.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7017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allow students to manage profiles and apply for suitable job opportunities.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7017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enable recruiters to create job postings and manage applications.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7017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eligibility checking and candidate shortlisting.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3673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provide application, interview, and selection status tracking.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3673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secure authentication using JWT.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3673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provide role-based authorization for students, recruiters, and administrators.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3673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enable communication between services using REST APIs.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3673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improve the overall efficiency and transparency of the campus placement process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63FE97B4-D51B-3A65-979C-3DE0220CEC05}"/>
              </a:ext>
            </a:extLst>
          </p:cNvPr>
          <p:cNvSpPr/>
          <p:nvPr/>
        </p:nvSpPr>
        <p:spPr>
          <a:xfrm>
            <a:off x="9144000" y="2698595"/>
            <a:ext cx="2655674" cy="2062975"/>
          </a:xfrm>
          <a:custGeom>
            <a:avLst/>
            <a:gdLst/>
            <a:ahLst/>
            <a:cxnLst/>
            <a:rect l="l" t="t" r="r" b="b"/>
            <a:pathLst>
              <a:path w="4606699" h="3875385">
                <a:moveTo>
                  <a:pt x="0" y="0"/>
                </a:moveTo>
                <a:lnTo>
                  <a:pt x="4606699" y="0"/>
                </a:lnTo>
                <a:lnTo>
                  <a:pt x="4606699" y="3875385"/>
                </a:lnTo>
                <a:lnTo>
                  <a:pt x="0" y="38753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067793-2EC5-4783-C451-DF963FBD1B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1225" y="-18632"/>
            <a:ext cx="1365173" cy="6842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7FA8436-C55E-97A9-EB1A-D524B513E1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2798113"/>
              </p:ext>
            </p:extLst>
          </p:nvPr>
        </p:nvGraphicFramePr>
        <p:xfrm>
          <a:off x="624468" y="825190"/>
          <a:ext cx="10917042" cy="547103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19507">
                  <a:extLst>
                    <a:ext uri="{9D8B030D-6E8A-4147-A177-3AD203B41FA5}">
                      <a16:colId xmlns:a16="http://schemas.microsoft.com/office/drawing/2014/main" val="2296524718"/>
                    </a:ext>
                  </a:extLst>
                </a:gridCol>
                <a:gridCol w="1819507">
                  <a:extLst>
                    <a:ext uri="{9D8B030D-6E8A-4147-A177-3AD203B41FA5}">
                      <a16:colId xmlns:a16="http://schemas.microsoft.com/office/drawing/2014/main" val="2300102752"/>
                    </a:ext>
                  </a:extLst>
                </a:gridCol>
                <a:gridCol w="1819507">
                  <a:extLst>
                    <a:ext uri="{9D8B030D-6E8A-4147-A177-3AD203B41FA5}">
                      <a16:colId xmlns:a16="http://schemas.microsoft.com/office/drawing/2014/main" val="2599563643"/>
                    </a:ext>
                  </a:extLst>
                </a:gridCol>
                <a:gridCol w="1819507">
                  <a:extLst>
                    <a:ext uri="{9D8B030D-6E8A-4147-A177-3AD203B41FA5}">
                      <a16:colId xmlns:a16="http://schemas.microsoft.com/office/drawing/2014/main" val="2042403031"/>
                    </a:ext>
                  </a:extLst>
                </a:gridCol>
                <a:gridCol w="1819507">
                  <a:extLst>
                    <a:ext uri="{9D8B030D-6E8A-4147-A177-3AD203B41FA5}">
                      <a16:colId xmlns:a16="http://schemas.microsoft.com/office/drawing/2014/main" val="579427169"/>
                    </a:ext>
                  </a:extLst>
                </a:gridCol>
                <a:gridCol w="1819507">
                  <a:extLst>
                    <a:ext uri="{9D8B030D-6E8A-4147-A177-3AD203B41FA5}">
                      <a16:colId xmlns:a16="http://schemas.microsoft.com/office/drawing/2014/main" val="3367725621"/>
                    </a:ext>
                  </a:extLst>
                </a:gridCol>
              </a:tblGrid>
              <a:tr h="3852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marL="44401" marR="44401" marT="22201" marB="2220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73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</a:p>
                  </a:txBody>
                  <a:tcPr marL="44401" marR="44401" marT="22201" marB="2220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73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the Paper</a:t>
                      </a:r>
                    </a:p>
                  </a:txBody>
                  <a:tcPr marL="44401" marR="44401" marT="22201" marB="2220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73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 marL="44401" marR="44401" marT="22201" marB="2220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73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Inferences</a:t>
                      </a:r>
                    </a:p>
                  </a:txBody>
                  <a:tcPr marL="44401" marR="44401" marT="22201" marB="2220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73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Limitation/Future Work</a:t>
                      </a:r>
                    </a:p>
                  </a:txBody>
                  <a:tcPr marL="44401" marR="44401" marT="22201" marB="2220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73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612308"/>
                  </a:ext>
                </a:extLst>
              </a:tr>
              <a:tr h="15459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</a:p>
                  </a:txBody>
                  <a:tcPr marL="44401" marR="44401" marT="22201" marB="2220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Ganesh D. </a:t>
                      </a: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Praghane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Akshay V. </a:t>
                      </a: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Padghan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Nandkishor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V. </a:t>
                      </a: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Rekalwar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Supriya S. </a:t>
                      </a: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Yedme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Ritesh V. Deshmukh</a:t>
                      </a:r>
                    </a:p>
                  </a:txBody>
                  <a:tcPr marL="44401" marR="44401" marT="22201" marB="2220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Online Campus Recruitment System</a:t>
                      </a:r>
                    </a:p>
                  </a:txBody>
                  <a:tcPr marL="44401" marR="44401" marT="22201" marB="2220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Web-based system with student, company and admin modules</a:t>
                      </a:r>
                    </a:p>
                  </a:txBody>
                  <a:tcPr marL="44401" marR="44401" marT="22201" marB="2220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Centralizes student and company recruitment information</a:t>
                      </a:r>
                    </a:p>
                  </a:txBody>
                  <a:tcPr marL="44401" marR="44401" marT="22201" marB="2220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Scope for improved automation and scalability</a:t>
                      </a:r>
                    </a:p>
                  </a:txBody>
                  <a:tcPr marL="44401" marR="44401" marT="22201" marB="2220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0286983"/>
                  </a:ext>
                </a:extLst>
              </a:tr>
              <a:tr h="12143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44401" marR="44401" marT="22201" marB="2220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Sagar Tete</a:t>
                      </a:r>
                    </a:p>
                  </a:txBody>
                  <a:tcPr marL="44401" marR="44401" marT="22201" marB="2220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Campus Recruitment Management (Online) System</a:t>
                      </a:r>
                    </a:p>
                  </a:txBody>
                  <a:tcPr marL="44401" marR="44401" marT="22201" marB="2220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Online recruitment management for students, companies and placement officers</a:t>
                      </a:r>
                    </a:p>
                  </a:txBody>
                  <a:tcPr marL="44401" marR="44401" marT="22201" marB="2220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Simplifies campus recruitment and manages multiple user roles</a:t>
                      </a:r>
                    </a:p>
                  </a:txBody>
                  <a:tcPr marL="44401" marR="44401" marT="22201" marB="2220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Scope for more advanced integration and automation</a:t>
                      </a:r>
                    </a:p>
                  </a:txBody>
                  <a:tcPr marL="44401" marR="44401" marT="22201" marB="2220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3437032"/>
                  </a:ext>
                </a:extLst>
              </a:tr>
              <a:tr h="12143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44401" marR="44401" marT="22201" marB="2220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Alfiya Banu, Dr. Manju Bargavi S. K</a:t>
                      </a:r>
                    </a:p>
                  </a:txBody>
                  <a:tcPr marL="44401" marR="44401" marT="22201" marB="2220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Research on Placement Management System</a:t>
                      </a:r>
                    </a:p>
                  </a:txBody>
                  <a:tcPr marL="44401" marR="44401" marT="22201" marB="2220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Web-based placement management system with student and company information</a:t>
                      </a:r>
                    </a:p>
                  </a:txBody>
                  <a:tcPr marL="44401" marR="44401" marT="22201" marB="2220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Helps institutions manage student and placement information</a:t>
                      </a:r>
                    </a:p>
                  </a:txBody>
                  <a:tcPr marL="44401" marR="44401" marT="22201" marB="2220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Scope for improved automation and modern architecture</a:t>
                      </a:r>
                    </a:p>
                  </a:txBody>
                  <a:tcPr marL="44401" marR="44401" marT="22201" marB="2220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3276"/>
                  </a:ext>
                </a:extLst>
              </a:tr>
              <a:tr h="10485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L="44401" marR="44401" marT="22201" marB="2220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P. Ravi Prakash, G. Lakshmi Venkata Sirisha, A. Manjunadh, D. Snikitha, J. Jagadeesh</a:t>
                      </a:r>
                    </a:p>
                  </a:txBody>
                  <a:tcPr marL="44401" marR="44401" marT="22201" marB="2220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Placement Management System</a:t>
                      </a:r>
                    </a:p>
                  </a:txBody>
                  <a:tcPr marL="44401" marR="44401" marT="22201" marB="2220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 application using HTML, JavaScript, Flask, MongoDB and Mailjet API</a:t>
                      </a:r>
                    </a:p>
                  </a:txBody>
                  <a:tcPr marL="44401" marR="44401" marT="22201" marB="2220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Automates placement forms, submissions, reminders and reports</a:t>
                      </a:r>
                    </a:p>
                  </a:txBody>
                  <a:tcPr marL="44401" marR="44401" marT="22201" marB="2220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Scope for more advanced architecture and intelligent matching</a:t>
                      </a:r>
                    </a:p>
                  </a:txBody>
                  <a:tcPr marL="44401" marR="44401" marT="22201" marB="2220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8508392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26D98284-5DD0-11EF-624D-ACB0DEFF34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1225" y="-18632"/>
            <a:ext cx="1365173" cy="6842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Gap Identification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362B5A-396B-77B5-9282-804040FBF456}"/>
              </a:ext>
            </a:extLst>
          </p:cNvPr>
          <p:cNvSpPr txBox="1"/>
          <p:nvPr/>
        </p:nvSpPr>
        <p:spPr>
          <a:xfrm>
            <a:off x="674914" y="1490399"/>
            <a:ext cx="10842171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7017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placement systems mainly focus on student registration, job posting, and application management.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7017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systems follow a centralized or monolithic architecture, making independent scaling and maintenance difficult.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7017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integration of microservices, service discovery, and API gateway for placement workflows.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3673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Lack of role-based access control for students, recruiters, placement officers, and administrators.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3673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and recruitment status tracking can still involve manual communication and updates.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3673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separation of data using independent databases for different services.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3673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there is a need for a secure, scalable, modular, and service-oriented placement management system.</a:t>
            </a:r>
          </a:p>
        </p:txBody>
      </p:sp>
      <p:sp>
        <p:nvSpPr>
          <p:cNvPr id="7" name="Freeform 20">
            <a:extLst>
              <a:ext uri="{FF2B5EF4-FFF2-40B4-BE49-F238E27FC236}">
                <a16:creationId xmlns:a16="http://schemas.microsoft.com/office/drawing/2014/main" id="{E982E51A-4AC5-5AF4-DD1E-56238564B0E4}"/>
              </a:ext>
            </a:extLst>
          </p:cNvPr>
          <p:cNvSpPr/>
          <p:nvPr/>
        </p:nvSpPr>
        <p:spPr>
          <a:xfrm flipH="1">
            <a:off x="2570697" y="311275"/>
            <a:ext cx="679279" cy="985274"/>
          </a:xfrm>
          <a:custGeom>
            <a:avLst/>
            <a:gdLst/>
            <a:ahLst/>
            <a:cxnLst/>
            <a:rect l="l" t="t" r="r" b="b"/>
            <a:pathLst>
              <a:path w="897182" h="1359367">
                <a:moveTo>
                  <a:pt x="897183" y="0"/>
                </a:moveTo>
                <a:lnTo>
                  <a:pt x="0" y="0"/>
                </a:lnTo>
                <a:lnTo>
                  <a:pt x="0" y="1359367"/>
                </a:lnTo>
                <a:lnTo>
                  <a:pt x="897183" y="1359367"/>
                </a:lnTo>
                <a:lnTo>
                  <a:pt x="89718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20">
            <a:extLst>
              <a:ext uri="{FF2B5EF4-FFF2-40B4-BE49-F238E27FC236}">
                <a16:creationId xmlns:a16="http://schemas.microsoft.com/office/drawing/2014/main" id="{8751D908-7F1C-F543-274C-BC491A5D779B}"/>
              </a:ext>
            </a:extLst>
          </p:cNvPr>
          <p:cNvSpPr/>
          <p:nvPr/>
        </p:nvSpPr>
        <p:spPr>
          <a:xfrm flipH="1">
            <a:off x="8964060" y="308324"/>
            <a:ext cx="679279" cy="985274"/>
          </a:xfrm>
          <a:custGeom>
            <a:avLst/>
            <a:gdLst/>
            <a:ahLst/>
            <a:cxnLst/>
            <a:rect l="l" t="t" r="r" b="b"/>
            <a:pathLst>
              <a:path w="897182" h="1359367">
                <a:moveTo>
                  <a:pt x="897183" y="0"/>
                </a:moveTo>
                <a:lnTo>
                  <a:pt x="0" y="0"/>
                </a:lnTo>
                <a:lnTo>
                  <a:pt x="0" y="1359367"/>
                </a:lnTo>
                <a:lnTo>
                  <a:pt x="897183" y="1359367"/>
                </a:lnTo>
                <a:lnTo>
                  <a:pt x="89718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4401806-D993-A711-283F-D731A23815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1225" y="-18632"/>
            <a:ext cx="1365173" cy="6842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2CFF3FD3-DF1F-A5BA-9872-A34C3D0B368C}"/>
              </a:ext>
            </a:extLst>
          </p:cNvPr>
          <p:cNvSpPr/>
          <p:nvPr/>
        </p:nvSpPr>
        <p:spPr>
          <a:xfrm>
            <a:off x="-3516087" y="-1302799"/>
            <a:ext cx="9176657" cy="9024257"/>
          </a:xfrm>
          <a:prstGeom prst="ellipse">
            <a:avLst/>
          </a:prstGeom>
          <a:solidFill>
            <a:srgbClr val="7017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B4BA1D-C5AE-9C9A-9DAD-CAE2574ED550}"/>
              </a:ext>
            </a:extLst>
          </p:cNvPr>
          <p:cNvSpPr txBox="1"/>
          <p:nvPr/>
        </p:nvSpPr>
        <p:spPr>
          <a:xfrm>
            <a:off x="729341" y="2830285"/>
            <a:ext cx="49312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INNOVATION</a:t>
            </a:r>
            <a:endParaRPr lang="en-IN" sz="5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AA42AB-3E90-6F76-9D4B-4BF663FBDFB5}"/>
              </a:ext>
            </a:extLst>
          </p:cNvPr>
          <p:cNvSpPr txBox="1"/>
          <p:nvPr/>
        </p:nvSpPr>
        <p:spPr>
          <a:xfrm>
            <a:off x="5747659" y="891638"/>
            <a:ext cx="6346370" cy="5074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3673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Microservices-Based Architecture</a:t>
            </a:r>
            <a:r>
              <a:rPr lang="en-IN" sz="2000" dirty="0">
                <a:solidFill>
                  <a:srgbClr val="3673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3673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Divides placement functions into independent services.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3673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Improves scalability and maintainability.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3673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Centralized API Gateway</a:t>
            </a:r>
            <a:r>
              <a:rPr lang="en-IN" sz="2000" dirty="0">
                <a:solidFill>
                  <a:srgbClr val="3673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3673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 Cloud Gateway provides a single entry point.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3673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Routes requests to the appropriate microservice.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3673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Service Discovery</a:t>
            </a:r>
            <a:r>
              <a:rPr lang="en-IN" sz="2000" dirty="0">
                <a:solidFill>
                  <a:srgbClr val="3673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3673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Eureka enables automatic registration and discovery of services.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3673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Simplifies communication between microservices.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BF149C-E241-8ADC-8ABC-C8550A0A97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1225" y="-18632"/>
            <a:ext cx="1365173" cy="6842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D8D17-EE2D-9731-0083-B79D44163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1F2ECC02-C49F-383F-6FF7-531B71485EF2}"/>
              </a:ext>
            </a:extLst>
          </p:cNvPr>
          <p:cNvSpPr/>
          <p:nvPr/>
        </p:nvSpPr>
        <p:spPr>
          <a:xfrm>
            <a:off x="-3516087" y="-1302799"/>
            <a:ext cx="9176657" cy="9024257"/>
          </a:xfrm>
          <a:prstGeom prst="ellipse">
            <a:avLst/>
          </a:prstGeom>
          <a:solidFill>
            <a:srgbClr val="3673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32CE16-E6AF-9EDB-61F9-F671EFDF9D2D}"/>
              </a:ext>
            </a:extLst>
          </p:cNvPr>
          <p:cNvSpPr txBox="1"/>
          <p:nvPr/>
        </p:nvSpPr>
        <p:spPr>
          <a:xfrm>
            <a:off x="729341" y="2830285"/>
            <a:ext cx="49312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CREATIVITY</a:t>
            </a:r>
            <a:endParaRPr lang="en-IN" sz="5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7E70DA-F47D-CCB7-98F2-28E0FA26B233}"/>
              </a:ext>
            </a:extLst>
          </p:cNvPr>
          <p:cNvSpPr txBox="1"/>
          <p:nvPr/>
        </p:nvSpPr>
        <p:spPr>
          <a:xfrm>
            <a:off x="5845630" y="546350"/>
            <a:ext cx="6346370" cy="5998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IN" sz="2000" b="1" dirty="0">
                <a:solidFill>
                  <a:srgbClr val="7017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Application Tracking</a:t>
            </a:r>
            <a:r>
              <a:rPr lang="en-IN" sz="2000" dirty="0">
                <a:solidFill>
                  <a:srgbClr val="7017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solidFill>
                  <a:srgbClr val="7017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Tracks applications through </a:t>
            </a:r>
            <a:r>
              <a:rPr lang="en-IN" sz="2000" b="1" dirty="0">
                <a:solidFill>
                  <a:srgbClr val="7017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Applied → Shortlisted → Interview → Selected/Rejected</a:t>
            </a:r>
            <a:r>
              <a:rPr lang="en-IN" sz="2000" dirty="0">
                <a:solidFill>
                  <a:srgbClr val="7017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solidFill>
                  <a:srgbClr val="7017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follow-ups. </a:t>
            </a:r>
          </a:p>
          <a:p>
            <a:pPr lvl="0">
              <a:lnSpc>
                <a:spcPct val="150000"/>
              </a:lnSpc>
            </a:pPr>
            <a:r>
              <a:rPr lang="en-IN" sz="2000" b="1" dirty="0">
                <a:solidFill>
                  <a:srgbClr val="7017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Role-Based Placement Workflow</a:t>
            </a:r>
            <a:r>
              <a:rPr lang="en-IN" sz="2000" dirty="0">
                <a:solidFill>
                  <a:srgbClr val="7017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solidFill>
                  <a:srgbClr val="7017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different functionalities for </a:t>
            </a:r>
            <a:r>
              <a:rPr lang="en-IN" sz="2000" b="1" dirty="0">
                <a:solidFill>
                  <a:srgbClr val="7017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Students, Recruiters, and Administrators</a:t>
            </a:r>
            <a:r>
              <a:rPr lang="en-IN" sz="2000" dirty="0">
                <a:solidFill>
                  <a:srgbClr val="7017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solidFill>
                  <a:srgbClr val="7017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Makes the placement process more organized and secure. </a:t>
            </a:r>
          </a:p>
          <a:p>
            <a:pPr lvl="0">
              <a:lnSpc>
                <a:spcPct val="150000"/>
              </a:lnSpc>
            </a:pPr>
            <a:r>
              <a:rPr lang="en-IN" sz="2000" b="1" dirty="0">
                <a:solidFill>
                  <a:srgbClr val="7017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Centralized Placement Platform</a:t>
            </a:r>
            <a:r>
              <a:rPr lang="en-IN" sz="2000" dirty="0">
                <a:solidFill>
                  <a:srgbClr val="7017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solidFill>
                  <a:srgbClr val="7017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Brings students, recruiters, companies, and placement activities into one platform. 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solidFill>
                  <a:srgbClr val="7017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Improves transparency and accessibility.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53157A-6A82-D1FC-437A-8AB021EFA8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1225" y="-18632"/>
            <a:ext cx="1365173" cy="6842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19240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EEF05-B350-8AB1-BE7C-19077060C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772C9DBD-E9B1-65F9-CE55-7CF13F8A5241}"/>
              </a:ext>
            </a:extLst>
          </p:cNvPr>
          <p:cNvSpPr/>
          <p:nvPr/>
        </p:nvSpPr>
        <p:spPr>
          <a:xfrm>
            <a:off x="-3516087" y="-1302799"/>
            <a:ext cx="9176657" cy="9024257"/>
          </a:xfrm>
          <a:prstGeom prst="ellipse">
            <a:avLst/>
          </a:prstGeom>
          <a:solidFill>
            <a:srgbClr val="7017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9F05CF-0E04-D76D-B0A8-610E5BD2EC6E}"/>
              </a:ext>
            </a:extLst>
          </p:cNvPr>
          <p:cNvSpPr txBox="1"/>
          <p:nvPr/>
        </p:nvSpPr>
        <p:spPr>
          <a:xfrm>
            <a:off x="1306289" y="2747664"/>
            <a:ext cx="49312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NOVELTY</a:t>
            </a:r>
            <a:endParaRPr lang="en-IN" sz="5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E1E705-0000-0203-880C-3F7F8206BA66}"/>
              </a:ext>
            </a:extLst>
          </p:cNvPr>
          <p:cNvSpPr txBox="1"/>
          <p:nvPr/>
        </p:nvSpPr>
        <p:spPr>
          <a:xfrm>
            <a:off x="5757495" y="987759"/>
            <a:ext cx="6346370" cy="5366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IN" sz="2100" b="1" dirty="0">
                <a:solidFill>
                  <a:srgbClr val="3673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Integrated Microservices Ecosystem</a:t>
            </a:r>
            <a:r>
              <a:rPr lang="en-IN" sz="2100" dirty="0">
                <a:solidFill>
                  <a:srgbClr val="3673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en-IN" sz="2100" dirty="0">
                <a:solidFill>
                  <a:srgbClr val="3673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Combines Student, Company &amp; Job, Application, and Notification services. </a:t>
            </a:r>
          </a:p>
          <a:p>
            <a:pPr lvl="0">
              <a:lnSpc>
                <a:spcPct val="150000"/>
              </a:lnSpc>
            </a:pPr>
            <a:r>
              <a:rPr lang="en-IN" sz="2100" b="1" dirty="0">
                <a:solidFill>
                  <a:srgbClr val="3673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and Scalable Architecture</a:t>
            </a:r>
            <a:r>
              <a:rPr lang="en-IN" sz="2100" dirty="0">
                <a:solidFill>
                  <a:srgbClr val="3673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en-IN" sz="2100" dirty="0">
                <a:solidFill>
                  <a:srgbClr val="3673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Combines JWT authentication, role-based authorization, Eureka, API Gateway, and database-per-service. </a:t>
            </a:r>
          </a:p>
          <a:p>
            <a:pPr lvl="0">
              <a:lnSpc>
                <a:spcPct val="150000"/>
              </a:lnSpc>
            </a:pPr>
            <a:r>
              <a:rPr lang="en-IN" sz="2100" b="1" dirty="0">
                <a:solidFill>
                  <a:srgbClr val="3673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End-to-End Placement Management</a:t>
            </a:r>
            <a:r>
              <a:rPr lang="en-IN" sz="2100" dirty="0">
                <a:solidFill>
                  <a:srgbClr val="3673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en-IN" sz="2100" dirty="0">
                <a:solidFill>
                  <a:srgbClr val="3673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the complete workflow from student</a:t>
            </a:r>
            <a:r>
              <a:rPr lang="en-IN" sz="2100" b="1" dirty="0">
                <a:solidFill>
                  <a:srgbClr val="3673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100" dirty="0">
                <a:solidFill>
                  <a:srgbClr val="3673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 and job search to application, interview, and final selection.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F0FFD0-FB1A-A5EA-0805-F286E2FFFE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1225" y="-18632"/>
            <a:ext cx="1365173" cy="6842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6646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075553" y="-13629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227E11-670C-0DEE-05F4-FE4D2581C79D}"/>
              </a:ext>
            </a:extLst>
          </p:cNvPr>
          <p:cNvSpPr txBox="1"/>
          <p:nvPr/>
        </p:nvSpPr>
        <p:spPr>
          <a:xfrm>
            <a:off x="253387" y="622550"/>
            <a:ext cx="11376752" cy="6275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solidFill>
                  <a:srgbClr val="3673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Technical Feasibility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3673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established technologies such as </a:t>
            </a:r>
            <a:r>
              <a:rPr lang="en-IN" b="1" dirty="0">
                <a:solidFill>
                  <a:srgbClr val="3673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React, Spring Boot, Spring Cloud, PostgreSQL, JWT, Eureka, and REST APIs</a:t>
            </a:r>
            <a:r>
              <a:rPr lang="en-IN" dirty="0">
                <a:solidFill>
                  <a:srgbClr val="3673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3673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Microservices can be independently developed, tested, and deployed.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solidFill>
                  <a:srgbClr val="7017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Economic Feasibility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7017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b="1" dirty="0">
                <a:solidFill>
                  <a:srgbClr val="7017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open-source frameworks and development tools</a:t>
            </a:r>
            <a:r>
              <a:rPr lang="en-IN" dirty="0">
                <a:solidFill>
                  <a:srgbClr val="7017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7017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Reduces software licensing and development costs.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solidFill>
                  <a:srgbClr val="3673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Operational Feasibility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3673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a simple workflow for students:</a:t>
            </a:r>
            <a:br>
              <a:rPr lang="en-IN" dirty="0">
                <a:solidFill>
                  <a:srgbClr val="3673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rgbClr val="3673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 → Job Search → Eligibility → Application → Interview → Selection</a:t>
            </a:r>
            <a:r>
              <a:rPr lang="en-IN" dirty="0">
                <a:solidFill>
                  <a:srgbClr val="3673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3673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Recruiters can manage:</a:t>
            </a:r>
            <a:br>
              <a:rPr lang="en-IN" dirty="0">
                <a:solidFill>
                  <a:srgbClr val="3673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rgbClr val="3673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Posting → Applications → Shortlisting → Interview → Selection</a:t>
            </a:r>
            <a:r>
              <a:rPr lang="en-IN" dirty="0">
                <a:solidFill>
                  <a:srgbClr val="3673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solidFill>
                  <a:srgbClr val="7017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Integration Feasibility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7017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Frontend, API Gateway, microservices, and databases can communicate through REST APIs.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7017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Eureka enables service discovery between microservices.</a:t>
            </a:r>
          </a:p>
        </p:txBody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97A8B8DD-935A-4A2B-1C9A-BEF10CB2F293}"/>
              </a:ext>
            </a:extLst>
          </p:cNvPr>
          <p:cNvSpPr/>
          <p:nvPr/>
        </p:nvSpPr>
        <p:spPr>
          <a:xfrm>
            <a:off x="3672525" y="0"/>
            <a:ext cx="745239" cy="707887"/>
          </a:xfrm>
          <a:custGeom>
            <a:avLst/>
            <a:gdLst/>
            <a:ahLst/>
            <a:cxnLst/>
            <a:rect l="l" t="t" r="r" b="b"/>
            <a:pathLst>
              <a:path w="1540761" h="1540761">
                <a:moveTo>
                  <a:pt x="0" y="0"/>
                </a:moveTo>
                <a:lnTo>
                  <a:pt x="1540761" y="0"/>
                </a:lnTo>
                <a:lnTo>
                  <a:pt x="1540761" y="1540761"/>
                </a:lnTo>
                <a:lnTo>
                  <a:pt x="0" y="15407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6086259-17CC-2A57-F74F-DD162E843C6E}"/>
              </a:ext>
            </a:extLst>
          </p:cNvPr>
          <p:cNvSpPr/>
          <p:nvPr/>
        </p:nvSpPr>
        <p:spPr>
          <a:xfrm>
            <a:off x="6939144" y="0"/>
            <a:ext cx="745239" cy="707887"/>
          </a:xfrm>
          <a:custGeom>
            <a:avLst/>
            <a:gdLst/>
            <a:ahLst/>
            <a:cxnLst/>
            <a:rect l="l" t="t" r="r" b="b"/>
            <a:pathLst>
              <a:path w="1540761" h="1540761">
                <a:moveTo>
                  <a:pt x="0" y="0"/>
                </a:moveTo>
                <a:lnTo>
                  <a:pt x="1540761" y="0"/>
                </a:lnTo>
                <a:lnTo>
                  <a:pt x="1540761" y="1540761"/>
                </a:lnTo>
                <a:lnTo>
                  <a:pt x="0" y="15407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04214F5-F5E0-2B0C-880E-0F079446F9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1225" y="-18632"/>
            <a:ext cx="1365173" cy="6842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B9847-6A7D-ECC5-10A6-682E4A2EA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8F7812-16DC-BD29-BD0B-B0FAA15961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08" t="13573" r="10417" b="2344"/>
          <a:stretch>
            <a:fillRect/>
          </a:stretch>
        </p:blipFill>
        <p:spPr>
          <a:xfrm>
            <a:off x="2798284" y="301464"/>
            <a:ext cx="7722824" cy="60230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449FE1-85F0-9C89-1BBB-0A3B94CDE5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5075" y="5912164"/>
            <a:ext cx="1085850" cy="5810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B58587F-CF76-7876-F471-931E7C1932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1225" y="-18632"/>
            <a:ext cx="1365173" cy="6842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80887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754F9-01A6-6BC3-D5F2-8CF841B13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CC81999-0570-AC3A-9130-709C0399D760}"/>
              </a:ext>
            </a:extLst>
          </p:cNvPr>
          <p:cNvSpPr txBox="1"/>
          <p:nvPr/>
        </p:nvSpPr>
        <p:spPr>
          <a:xfrm>
            <a:off x="2075553" y="-13629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</a:t>
            </a:r>
          </a:p>
        </p:txBody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DB239FB0-EC1A-D7DB-C56B-87E66890010F}"/>
              </a:ext>
            </a:extLst>
          </p:cNvPr>
          <p:cNvSpPr/>
          <p:nvPr/>
        </p:nvSpPr>
        <p:spPr>
          <a:xfrm>
            <a:off x="2882433" y="4105"/>
            <a:ext cx="745239" cy="707887"/>
          </a:xfrm>
          <a:custGeom>
            <a:avLst/>
            <a:gdLst/>
            <a:ahLst/>
            <a:cxnLst/>
            <a:rect l="l" t="t" r="r" b="b"/>
            <a:pathLst>
              <a:path w="1540761" h="1540761">
                <a:moveTo>
                  <a:pt x="0" y="0"/>
                </a:moveTo>
                <a:lnTo>
                  <a:pt x="1540761" y="0"/>
                </a:lnTo>
                <a:lnTo>
                  <a:pt x="1540761" y="1540761"/>
                </a:lnTo>
                <a:lnTo>
                  <a:pt x="0" y="15407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71E1BA5-892E-4833-6FAD-D56E2B94CC90}"/>
              </a:ext>
            </a:extLst>
          </p:cNvPr>
          <p:cNvSpPr/>
          <p:nvPr/>
        </p:nvSpPr>
        <p:spPr>
          <a:xfrm>
            <a:off x="7819091" y="-14626"/>
            <a:ext cx="745239" cy="707887"/>
          </a:xfrm>
          <a:custGeom>
            <a:avLst/>
            <a:gdLst/>
            <a:ahLst/>
            <a:cxnLst/>
            <a:rect l="l" t="t" r="r" b="b"/>
            <a:pathLst>
              <a:path w="1540761" h="1540761">
                <a:moveTo>
                  <a:pt x="0" y="0"/>
                </a:moveTo>
                <a:lnTo>
                  <a:pt x="1540761" y="0"/>
                </a:lnTo>
                <a:lnTo>
                  <a:pt x="1540761" y="1540761"/>
                </a:lnTo>
                <a:lnTo>
                  <a:pt x="0" y="15407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E12FB49-6381-CAA5-E159-6201BA1C2F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1225" y="-18632"/>
            <a:ext cx="1365173" cy="684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C30990-CE4B-66CD-BCC1-66671D37A9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70" b="9397"/>
          <a:stretch>
            <a:fillRect/>
          </a:stretch>
        </p:blipFill>
        <p:spPr>
          <a:xfrm>
            <a:off x="952500" y="1134736"/>
            <a:ext cx="10287000" cy="5365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401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899</Words>
  <Application>Microsoft Office PowerPoint</Application>
  <PresentationFormat>Widescreen</PresentationFormat>
  <Paragraphs>145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Kundana Mani B</cp:lastModifiedBy>
  <cp:revision>33</cp:revision>
  <dcterms:created xsi:type="dcterms:W3CDTF">2026-08-08T06:33:56Z</dcterms:created>
  <dcterms:modified xsi:type="dcterms:W3CDTF">2026-08-27T09:12:15Z</dcterms:modified>
</cp:coreProperties>
</file>